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75" r:id="rId4"/>
    <p:sldId id="257" r:id="rId5"/>
    <p:sldId id="261" r:id="rId6"/>
    <p:sldId id="263" r:id="rId7"/>
    <p:sldId id="264" r:id="rId8"/>
    <p:sldId id="273" r:id="rId9"/>
    <p:sldId id="265" r:id="rId10"/>
    <p:sldId id="266" r:id="rId11"/>
    <p:sldId id="262" r:id="rId12"/>
    <p:sldId id="260" r:id="rId13"/>
    <p:sldId id="259" r:id="rId14"/>
    <p:sldId id="267" r:id="rId15"/>
    <p:sldId id="269" r:id="rId16"/>
    <p:sldId id="270" r:id="rId17"/>
    <p:sldId id="268" r:id="rId18"/>
    <p:sldId id="271" r:id="rId1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33CC33"/>
    <a:srgbClr val="0000F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026" autoAdjust="0"/>
    <p:restoredTop sz="94660"/>
  </p:normalViewPr>
  <p:slideViewPr>
    <p:cSldViewPr snapToGrid="0">
      <p:cViewPr>
        <p:scale>
          <a:sx n="100" d="100"/>
          <a:sy n="100" d="100"/>
        </p:scale>
        <p:origin x="-14" y="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A6A0B-3488-4734-AA5C-0AFCD0E219AF}" type="datetimeFigureOut">
              <a:rPr lang="fr-FR" smtClean="0"/>
              <a:pPr/>
              <a:t>05/06/2024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04C6C-2D6D-4831-8245-8CABA32E3A94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4189826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A6A0B-3488-4734-AA5C-0AFCD0E219AF}" type="datetimeFigureOut">
              <a:rPr lang="fr-FR" smtClean="0"/>
              <a:pPr/>
              <a:t>05/06/2024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04C6C-2D6D-4831-8245-8CABA32E3A94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3431970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A6A0B-3488-4734-AA5C-0AFCD0E219AF}" type="datetimeFigureOut">
              <a:rPr lang="fr-FR" smtClean="0"/>
              <a:pPr/>
              <a:t>05/06/2024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04C6C-2D6D-4831-8245-8CABA32E3A94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274083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A6A0B-3488-4734-AA5C-0AFCD0E219AF}" type="datetimeFigureOut">
              <a:rPr lang="fr-FR" smtClean="0"/>
              <a:pPr/>
              <a:t>05/06/2024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04C6C-2D6D-4831-8245-8CABA32E3A94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3043996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A6A0B-3488-4734-AA5C-0AFCD0E219AF}" type="datetimeFigureOut">
              <a:rPr lang="fr-FR" smtClean="0"/>
              <a:pPr/>
              <a:t>05/06/2024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04C6C-2D6D-4831-8245-8CABA32E3A94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62631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A6A0B-3488-4734-AA5C-0AFCD0E219AF}" type="datetimeFigureOut">
              <a:rPr lang="fr-FR" smtClean="0"/>
              <a:pPr/>
              <a:t>05/06/2024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04C6C-2D6D-4831-8245-8CABA32E3A94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2113657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A6A0B-3488-4734-AA5C-0AFCD0E219AF}" type="datetimeFigureOut">
              <a:rPr lang="fr-FR" smtClean="0"/>
              <a:pPr/>
              <a:t>05/06/2024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04C6C-2D6D-4831-8245-8CABA32E3A94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3384011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A6A0B-3488-4734-AA5C-0AFCD0E219AF}" type="datetimeFigureOut">
              <a:rPr lang="fr-FR" smtClean="0"/>
              <a:pPr/>
              <a:t>05/06/2024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04C6C-2D6D-4831-8245-8CABA32E3A94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375928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A6A0B-3488-4734-AA5C-0AFCD0E219AF}" type="datetimeFigureOut">
              <a:rPr lang="fr-FR" smtClean="0"/>
              <a:pPr/>
              <a:t>05/06/2024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04C6C-2D6D-4831-8245-8CABA32E3A94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4103578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A6A0B-3488-4734-AA5C-0AFCD0E219AF}" type="datetimeFigureOut">
              <a:rPr lang="fr-FR" smtClean="0"/>
              <a:pPr/>
              <a:t>05/06/2024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04C6C-2D6D-4831-8245-8CABA32E3A94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1967421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A6A0B-3488-4734-AA5C-0AFCD0E219AF}" type="datetimeFigureOut">
              <a:rPr lang="fr-FR" smtClean="0"/>
              <a:pPr/>
              <a:t>05/06/2024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04C6C-2D6D-4831-8245-8CABA32E3A94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2873868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5A6A0B-3488-4734-AA5C-0AFCD0E219AF}" type="datetimeFigureOut">
              <a:rPr lang="fr-FR" smtClean="0"/>
              <a:pPr/>
              <a:t>05/06/2024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704C6C-2D6D-4831-8245-8CABA32E3A94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870034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8"/>
          <p:cNvSpPr>
            <a:spLocks noChangeAspect="1" noChangeArrowheads="1" noTextEdit="1"/>
          </p:cNvSpPr>
          <p:nvPr/>
        </p:nvSpPr>
        <p:spPr bwMode="auto">
          <a:xfrm>
            <a:off x="5167122" y="2247138"/>
            <a:ext cx="3296256" cy="1468191"/>
          </a:xfrm>
          <a:prstGeom prst="rect">
            <a:avLst/>
          </a:prstGeom>
          <a:noFill/>
          <a:ln w="9525"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sz="3200" dirty="0">
              <a:solidFill>
                <a:srgbClr val="FF0000"/>
              </a:solidFill>
            </a:endParaRPr>
          </a:p>
        </p:txBody>
      </p:sp>
      <p:grpSp>
        <p:nvGrpSpPr>
          <p:cNvPr id="53" name="Groupe 52"/>
          <p:cNvGrpSpPr/>
          <p:nvPr/>
        </p:nvGrpSpPr>
        <p:grpSpPr>
          <a:xfrm>
            <a:off x="3996355" y="2247138"/>
            <a:ext cx="3665713" cy="3376415"/>
            <a:chOff x="3879185" y="2251517"/>
            <a:chExt cx="3665713" cy="3376415"/>
          </a:xfrm>
        </p:grpSpPr>
        <p:grpSp>
          <p:nvGrpSpPr>
            <p:cNvPr id="6" name="Group 25"/>
            <p:cNvGrpSpPr>
              <a:grpSpLocks/>
            </p:cNvGrpSpPr>
            <p:nvPr/>
          </p:nvGrpSpPr>
          <p:grpSpPr bwMode="auto">
            <a:xfrm>
              <a:off x="7292463" y="2829716"/>
              <a:ext cx="252435" cy="222106"/>
              <a:chOff x="7720" y="14397"/>
              <a:chExt cx="181" cy="159"/>
            </a:xfrm>
          </p:grpSpPr>
          <p:sp>
            <p:nvSpPr>
              <p:cNvPr id="35" name="Line 27"/>
              <p:cNvSpPr>
                <a:spLocks noChangeShapeType="1"/>
              </p:cNvSpPr>
              <p:nvPr/>
            </p:nvSpPr>
            <p:spPr bwMode="auto">
              <a:xfrm flipV="1">
                <a:off x="7731" y="14554"/>
                <a:ext cx="158" cy="1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32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6" name="AutoShape 26"/>
              <p:cNvSpPr>
                <a:spLocks noChangeArrowheads="1"/>
              </p:cNvSpPr>
              <p:nvPr/>
            </p:nvSpPr>
            <p:spPr bwMode="auto">
              <a:xfrm flipV="1">
                <a:off x="7720" y="14397"/>
                <a:ext cx="181" cy="159"/>
              </a:xfrm>
              <a:prstGeom prst="triangle">
                <a:avLst>
                  <a:gd name="adj" fmla="val 50000"/>
                </a:avLst>
              </a:prstGeom>
              <a:solidFill>
                <a:srgbClr val="0000FF"/>
              </a:solidFill>
              <a:ln w="12700">
                <a:solidFill>
                  <a:srgbClr val="0000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32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7" name="Group 11"/>
            <p:cNvGrpSpPr>
              <a:grpSpLocks/>
            </p:cNvGrpSpPr>
            <p:nvPr/>
          </p:nvGrpSpPr>
          <p:grpSpPr bwMode="auto">
            <a:xfrm>
              <a:off x="5177553" y="2278420"/>
              <a:ext cx="1431159" cy="1363916"/>
              <a:chOff x="1712" y="3408"/>
              <a:chExt cx="1233" cy="1560"/>
            </a:xfrm>
            <a:noFill/>
          </p:grpSpPr>
          <p:sp>
            <p:nvSpPr>
              <p:cNvPr id="22" name="AutoShape 24"/>
              <p:cNvSpPr>
                <a:spLocks noChangeArrowheads="1"/>
              </p:cNvSpPr>
              <p:nvPr/>
            </p:nvSpPr>
            <p:spPr bwMode="auto">
              <a:xfrm>
                <a:off x="1818" y="3408"/>
                <a:ext cx="1034" cy="1560"/>
              </a:xfrm>
              <a:prstGeom prst="roundRect">
                <a:avLst>
                  <a:gd name="adj" fmla="val 6769"/>
                </a:avLst>
              </a:prstGeom>
              <a:grpFill/>
              <a:ln w="38100">
                <a:solidFill>
                  <a:srgbClr val="5A5A5A"/>
                </a:solidFill>
                <a:round/>
                <a:headEnd/>
                <a:tailEnd/>
              </a:ln>
              <a:effectLst>
                <a:outerShdw dist="28398" dir="3806097" algn="ctr" rotWithShape="0">
                  <a:srgbClr val="4E6128">
                    <a:alpha val="50000"/>
                  </a:srgbClr>
                </a:outerShdw>
              </a:effec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fr-FR" sz="1400" b="0" i="0" u="none" strike="noStrike" cap="none" normalizeH="0" baseline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Cambria" pitchFamily="18" charset="0"/>
                    <a:ea typeface="Calibri" pitchFamily="34" charset="0"/>
                    <a:cs typeface="Times New Roman" pitchFamily="18" charset="0"/>
                  </a:rPr>
                  <a:t>Arduino</a:t>
                </a:r>
                <a:endParaRPr kumimoji="0" lang="fr-FR" sz="32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23" name="Group 18"/>
              <p:cNvGrpSpPr>
                <a:grpSpLocks/>
              </p:cNvGrpSpPr>
              <p:nvPr/>
            </p:nvGrpSpPr>
            <p:grpSpPr bwMode="auto">
              <a:xfrm>
                <a:off x="1712" y="3573"/>
                <a:ext cx="83" cy="1196"/>
                <a:chOff x="1712" y="3533"/>
                <a:chExt cx="83" cy="1196"/>
              </a:xfrm>
              <a:grpFill/>
            </p:grpSpPr>
            <p:sp>
              <p:nvSpPr>
                <p:cNvPr id="30" name="Freeform 23"/>
                <p:cNvSpPr>
                  <a:spLocks/>
                </p:cNvSpPr>
                <p:nvPr/>
              </p:nvSpPr>
              <p:spPr bwMode="auto">
                <a:xfrm flipH="1">
                  <a:off x="1712" y="4033"/>
                  <a:ext cx="83" cy="19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452" y="0"/>
                    </a:cxn>
                    <a:cxn ang="0">
                      <a:pos x="452" y="113"/>
                    </a:cxn>
                    <a:cxn ang="0">
                      <a:pos x="565" y="113"/>
                    </a:cxn>
                    <a:cxn ang="0">
                      <a:pos x="565" y="565"/>
                    </a:cxn>
                    <a:cxn ang="0">
                      <a:pos x="452" y="565"/>
                    </a:cxn>
                    <a:cxn ang="0">
                      <a:pos x="452" y="678"/>
                    </a:cxn>
                    <a:cxn ang="0">
                      <a:pos x="0" y="678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565" h="678">
                      <a:moveTo>
                        <a:pt x="0" y="0"/>
                      </a:moveTo>
                      <a:lnTo>
                        <a:pt x="452" y="0"/>
                      </a:lnTo>
                      <a:lnTo>
                        <a:pt x="452" y="113"/>
                      </a:lnTo>
                      <a:lnTo>
                        <a:pt x="565" y="113"/>
                      </a:lnTo>
                      <a:lnTo>
                        <a:pt x="565" y="565"/>
                      </a:lnTo>
                      <a:lnTo>
                        <a:pt x="452" y="565"/>
                      </a:lnTo>
                      <a:lnTo>
                        <a:pt x="452" y="678"/>
                      </a:lnTo>
                      <a:lnTo>
                        <a:pt x="0" y="67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3200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31" name="Freeform 22"/>
                <p:cNvSpPr>
                  <a:spLocks/>
                </p:cNvSpPr>
                <p:nvPr/>
              </p:nvSpPr>
              <p:spPr bwMode="auto">
                <a:xfrm flipH="1">
                  <a:off x="1712" y="4283"/>
                  <a:ext cx="83" cy="19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452" y="0"/>
                    </a:cxn>
                    <a:cxn ang="0">
                      <a:pos x="452" y="113"/>
                    </a:cxn>
                    <a:cxn ang="0">
                      <a:pos x="565" y="113"/>
                    </a:cxn>
                    <a:cxn ang="0">
                      <a:pos x="565" y="565"/>
                    </a:cxn>
                    <a:cxn ang="0">
                      <a:pos x="452" y="565"/>
                    </a:cxn>
                    <a:cxn ang="0">
                      <a:pos x="452" y="678"/>
                    </a:cxn>
                    <a:cxn ang="0">
                      <a:pos x="0" y="678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565" h="678">
                      <a:moveTo>
                        <a:pt x="0" y="0"/>
                      </a:moveTo>
                      <a:lnTo>
                        <a:pt x="452" y="0"/>
                      </a:lnTo>
                      <a:lnTo>
                        <a:pt x="452" y="113"/>
                      </a:lnTo>
                      <a:lnTo>
                        <a:pt x="565" y="113"/>
                      </a:lnTo>
                      <a:lnTo>
                        <a:pt x="565" y="565"/>
                      </a:lnTo>
                      <a:lnTo>
                        <a:pt x="452" y="565"/>
                      </a:lnTo>
                      <a:lnTo>
                        <a:pt x="452" y="678"/>
                      </a:lnTo>
                      <a:lnTo>
                        <a:pt x="0" y="67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3200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32" name="Freeform 21"/>
                <p:cNvSpPr>
                  <a:spLocks/>
                </p:cNvSpPr>
                <p:nvPr/>
              </p:nvSpPr>
              <p:spPr bwMode="auto">
                <a:xfrm flipH="1">
                  <a:off x="1712" y="4533"/>
                  <a:ext cx="83" cy="19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452" y="0"/>
                    </a:cxn>
                    <a:cxn ang="0">
                      <a:pos x="452" y="113"/>
                    </a:cxn>
                    <a:cxn ang="0">
                      <a:pos x="565" y="113"/>
                    </a:cxn>
                    <a:cxn ang="0">
                      <a:pos x="565" y="565"/>
                    </a:cxn>
                    <a:cxn ang="0">
                      <a:pos x="452" y="565"/>
                    </a:cxn>
                    <a:cxn ang="0">
                      <a:pos x="452" y="678"/>
                    </a:cxn>
                    <a:cxn ang="0">
                      <a:pos x="0" y="678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565" h="678">
                      <a:moveTo>
                        <a:pt x="0" y="0"/>
                      </a:moveTo>
                      <a:lnTo>
                        <a:pt x="452" y="0"/>
                      </a:lnTo>
                      <a:lnTo>
                        <a:pt x="452" y="113"/>
                      </a:lnTo>
                      <a:lnTo>
                        <a:pt x="565" y="113"/>
                      </a:lnTo>
                      <a:lnTo>
                        <a:pt x="565" y="565"/>
                      </a:lnTo>
                      <a:lnTo>
                        <a:pt x="452" y="565"/>
                      </a:lnTo>
                      <a:lnTo>
                        <a:pt x="452" y="678"/>
                      </a:lnTo>
                      <a:lnTo>
                        <a:pt x="0" y="67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3200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33" name="Freeform 20"/>
                <p:cNvSpPr>
                  <a:spLocks/>
                </p:cNvSpPr>
                <p:nvPr/>
              </p:nvSpPr>
              <p:spPr bwMode="auto">
                <a:xfrm flipH="1">
                  <a:off x="1712" y="3783"/>
                  <a:ext cx="83" cy="19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452" y="0"/>
                    </a:cxn>
                    <a:cxn ang="0">
                      <a:pos x="452" y="113"/>
                    </a:cxn>
                    <a:cxn ang="0">
                      <a:pos x="565" y="113"/>
                    </a:cxn>
                    <a:cxn ang="0">
                      <a:pos x="565" y="565"/>
                    </a:cxn>
                    <a:cxn ang="0">
                      <a:pos x="452" y="565"/>
                    </a:cxn>
                    <a:cxn ang="0">
                      <a:pos x="452" y="678"/>
                    </a:cxn>
                    <a:cxn ang="0">
                      <a:pos x="0" y="678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565" h="678">
                      <a:moveTo>
                        <a:pt x="0" y="0"/>
                      </a:moveTo>
                      <a:lnTo>
                        <a:pt x="452" y="0"/>
                      </a:lnTo>
                      <a:lnTo>
                        <a:pt x="452" y="113"/>
                      </a:lnTo>
                      <a:lnTo>
                        <a:pt x="565" y="113"/>
                      </a:lnTo>
                      <a:lnTo>
                        <a:pt x="565" y="565"/>
                      </a:lnTo>
                      <a:lnTo>
                        <a:pt x="452" y="565"/>
                      </a:lnTo>
                      <a:lnTo>
                        <a:pt x="452" y="678"/>
                      </a:lnTo>
                      <a:lnTo>
                        <a:pt x="0" y="67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3200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34" name="Freeform 19"/>
                <p:cNvSpPr>
                  <a:spLocks/>
                </p:cNvSpPr>
                <p:nvPr/>
              </p:nvSpPr>
              <p:spPr bwMode="auto">
                <a:xfrm flipH="1">
                  <a:off x="1712" y="3533"/>
                  <a:ext cx="83" cy="19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452" y="0"/>
                    </a:cxn>
                    <a:cxn ang="0">
                      <a:pos x="452" y="113"/>
                    </a:cxn>
                    <a:cxn ang="0">
                      <a:pos x="565" y="113"/>
                    </a:cxn>
                    <a:cxn ang="0">
                      <a:pos x="565" y="565"/>
                    </a:cxn>
                    <a:cxn ang="0">
                      <a:pos x="452" y="565"/>
                    </a:cxn>
                    <a:cxn ang="0">
                      <a:pos x="452" y="678"/>
                    </a:cxn>
                    <a:cxn ang="0">
                      <a:pos x="0" y="678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565" h="678">
                      <a:moveTo>
                        <a:pt x="0" y="0"/>
                      </a:moveTo>
                      <a:lnTo>
                        <a:pt x="452" y="0"/>
                      </a:lnTo>
                      <a:lnTo>
                        <a:pt x="452" y="113"/>
                      </a:lnTo>
                      <a:lnTo>
                        <a:pt x="565" y="113"/>
                      </a:lnTo>
                      <a:lnTo>
                        <a:pt x="565" y="565"/>
                      </a:lnTo>
                      <a:lnTo>
                        <a:pt x="452" y="565"/>
                      </a:lnTo>
                      <a:lnTo>
                        <a:pt x="452" y="678"/>
                      </a:lnTo>
                      <a:lnTo>
                        <a:pt x="0" y="67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3200" dirty="0">
                    <a:solidFill>
                      <a:srgbClr val="FF0000"/>
                    </a:solidFill>
                  </a:endParaRPr>
                </a:p>
              </p:txBody>
            </p:sp>
          </p:grpSp>
          <p:grpSp>
            <p:nvGrpSpPr>
              <p:cNvPr id="24" name="Group 12"/>
              <p:cNvGrpSpPr>
                <a:grpSpLocks/>
              </p:cNvGrpSpPr>
              <p:nvPr/>
            </p:nvGrpSpPr>
            <p:grpSpPr bwMode="auto">
              <a:xfrm flipH="1">
                <a:off x="2862" y="3573"/>
                <a:ext cx="83" cy="1196"/>
                <a:chOff x="1952" y="3773"/>
                <a:chExt cx="83" cy="1196"/>
              </a:xfrm>
              <a:grpFill/>
            </p:grpSpPr>
            <p:sp>
              <p:nvSpPr>
                <p:cNvPr id="25" name="Freeform 17"/>
                <p:cNvSpPr>
                  <a:spLocks/>
                </p:cNvSpPr>
                <p:nvPr/>
              </p:nvSpPr>
              <p:spPr bwMode="auto">
                <a:xfrm flipH="1">
                  <a:off x="1952" y="4273"/>
                  <a:ext cx="83" cy="19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452" y="0"/>
                    </a:cxn>
                    <a:cxn ang="0">
                      <a:pos x="452" y="113"/>
                    </a:cxn>
                    <a:cxn ang="0">
                      <a:pos x="565" y="113"/>
                    </a:cxn>
                    <a:cxn ang="0">
                      <a:pos x="565" y="565"/>
                    </a:cxn>
                    <a:cxn ang="0">
                      <a:pos x="452" y="565"/>
                    </a:cxn>
                    <a:cxn ang="0">
                      <a:pos x="452" y="678"/>
                    </a:cxn>
                    <a:cxn ang="0">
                      <a:pos x="0" y="678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565" h="678">
                      <a:moveTo>
                        <a:pt x="0" y="0"/>
                      </a:moveTo>
                      <a:lnTo>
                        <a:pt x="452" y="0"/>
                      </a:lnTo>
                      <a:lnTo>
                        <a:pt x="452" y="113"/>
                      </a:lnTo>
                      <a:lnTo>
                        <a:pt x="565" y="113"/>
                      </a:lnTo>
                      <a:lnTo>
                        <a:pt x="565" y="565"/>
                      </a:lnTo>
                      <a:lnTo>
                        <a:pt x="452" y="565"/>
                      </a:lnTo>
                      <a:lnTo>
                        <a:pt x="452" y="678"/>
                      </a:lnTo>
                      <a:lnTo>
                        <a:pt x="0" y="67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3200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26" name="Freeform 16"/>
                <p:cNvSpPr>
                  <a:spLocks/>
                </p:cNvSpPr>
                <p:nvPr/>
              </p:nvSpPr>
              <p:spPr bwMode="auto">
                <a:xfrm flipH="1">
                  <a:off x="1952" y="4523"/>
                  <a:ext cx="83" cy="19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452" y="0"/>
                    </a:cxn>
                    <a:cxn ang="0">
                      <a:pos x="452" y="113"/>
                    </a:cxn>
                    <a:cxn ang="0">
                      <a:pos x="565" y="113"/>
                    </a:cxn>
                    <a:cxn ang="0">
                      <a:pos x="565" y="565"/>
                    </a:cxn>
                    <a:cxn ang="0">
                      <a:pos x="452" y="565"/>
                    </a:cxn>
                    <a:cxn ang="0">
                      <a:pos x="452" y="678"/>
                    </a:cxn>
                    <a:cxn ang="0">
                      <a:pos x="0" y="678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565" h="678">
                      <a:moveTo>
                        <a:pt x="0" y="0"/>
                      </a:moveTo>
                      <a:lnTo>
                        <a:pt x="452" y="0"/>
                      </a:lnTo>
                      <a:lnTo>
                        <a:pt x="452" y="113"/>
                      </a:lnTo>
                      <a:lnTo>
                        <a:pt x="565" y="113"/>
                      </a:lnTo>
                      <a:lnTo>
                        <a:pt x="565" y="565"/>
                      </a:lnTo>
                      <a:lnTo>
                        <a:pt x="452" y="565"/>
                      </a:lnTo>
                      <a:lnTo>
                        <a:pt x="452" y="678"/>
                      </a:lnTo>
                      <a:lnTo>
                        <a:pt x="0" y="67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3200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27" name="Freeform 15"/>
                <p:cNvSpPr>
                  <a:spLocks/>
                </p:cNvSpPr>
                <p:nvPr/>
              </p:nvSpPr>
              <p:spPr bwMode="auto">
                <a:xfrm flipH="1">
                  <a:off x="1952" y="4773"/>
                  <a:ext cx="83" cy="19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452" y="0"/>
                    </a:cxn>
                    <a:cxn ang="0">
                      <a:pos x="452" y="113"/>
                    </a:cxn>
                    <a:cxn ang="0">
                      <a:pos x="565" y="113"/>
                    </a:cxn>
                    <a:cxn ang="0">
                      <a:pos x="565" y="565"/>
                    </a:cxn>
                    <a:cxn ang="0">
                      <a:pos x="452" y="565"/>
                    </a:cxn>
                    <a:cxn ang="0">
                      <a:pos x="452" y="678"/>
                    </a:cxn>
                    <a:cxn ang="0">
                      <a:pos x="0" y="678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565" h="678">
                      <a:moveTo>
                        <a:pt x="0" y="0"/>
                      </a:moveTo>
                      <a:lnTo>
                        <a:pt x="452" y="0"/>
                      </a:lnTo>
                      <a:lnTo>
                        <a:pt x="452" y="113"/>
                      </a:lnTo>
                      <a:lnTo>
                        <a:pt x="565" y="113"/>
                      </a:lnTo>
                      <a:lnTo>
                        <a:pt x="565" y="565"/>
                      </a:lnTo>
                      <a:lnTo>
                        <a:pt x="452" y="565"/>
                      </a:lnTo>
                      <a:lnTo>
                        <a:pt x="452" y="678"/>
                      </a:lnTo>
                      <a:lnTo>
                        <a:pt x="0" y="67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3200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28" name="Freeform 14"/>
                <p:cNvSpPr>
                  <a:spLocks/>
                </p:cNvSpPr>
                <p:nvPr/>
              </p:nvSpPr>
              <p:spPr bwMode="auto">
                <a:xfrm flipH="1">
                  <a:off x="1952" y="4023"/>
                  <a:ext cx="83" cy="19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452" y="0"/>
                    </a:cxn>
                    <a:cxn ang="0">
                      <a:pos x="452" y="113"/>
                    </a:cxn>
                    <a:cxn ang="0">
                      <a:pos x="565" y="113"/>
                    </a:cxn>
                    <a:cxn ang="0">
                      <a:pos x="565" y="565"/>
                    </a:cxn>
                    <a:cxn ang="0">
                      <a:pos x="452" y="565"/>
                    </a:cxn>
                    <a:cxn ang="0">
                      <a:pos x="452" y="678"/>
                    </a:cxn>
                    <a:cxn ang="0">
                      <a:pos x="0" y="678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565" h="678">
                      <a:moveTo>
                        <a:pt x="0" y="0"/>
                      </a:moveTo>
                      <a:lnTo>
                        <a:pt x="452" y="0"/>
                      </a:lnTo>
                      <a:lnTo>
                        <a:pt x="452" y="113"/>
                      </a:lnTo>
                      <a:lnTo>
                        <a:pt x="565" y="113"/>
                      </a:lnTo>
                      <a:lnTo>
                        <a:pt x="565" y="565"/>
                      </a:lnTo>
                      <a:lnTo>
                        <a:pt x="452" y="565"/>
                      </a:lnTo>
                      <a:lnTo>
                        <a:pt x="452" y="678"/>
                      </a:lnTo>
                      <a:lnTo>
                        <a:pt x="0" y="67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3200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29" name="Freeform 13"/>
                <p:cNvSpPr>
                  <a:spLocks/>
                </p:cNvSpPr>
                <p:nvPr/>
              </p:nvSpPr>
              <p:spPr bwMode="auto">
                <a:xfrm flipH="1">
                  <a:off x="1952" y="3773"/>
                  <a:ext cx="83" cy="19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452" y="0"/>
                    </a:cxn>
                    <a:cxn ang="0">
                      <a:pos x="452" y="113"/>
                    </a:cxn>
                    <a:cxn ang="0">
                      <a:pos x="565" y="113"/>
                    </a:cxn>
                    <a:cxn ang="0">
                      <a:pos x="565" y="565"/>
                    </a:cxn>
                    <a:cxn ang="0">
                      <a:pos x="452" y="565"/>
                    </a:cxn>
                    <a:cxn ang="0">
                      <a:pos x="452" y="678"/>
                    </a:cxn>
                    <a:cxn ang="0">
                      <a:pos x="0" y="678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565" h="678">
                      <a:moveTo>
                        <a:pt x="0" y="0"/>
                      </a:moveTo>
                      <a:lnTo>
                        <a:pt x="452" y="0"/>
                      </a:lnTo>
                      <a:lnTo>
                        <a:pt x="452" y="113"/>
                      </a:lnTo>
                      <a:lnTo>
                        <a:pt x="565" y="113"/>
                      </a:lnTo>
                      <a:lnTo>
                        <a:pt x="565" y="565"/>
                      </a:lnTo>
                      <a:lnTo>
                        <a:pt x="452" y="565"/>
                      </a:lnTo>
                      <a:lnTo>
                        <a:pt x="452" y="678"/>
                      </a:lnTo>
                      <a:lnTo>
                        <a:pt x="0" y="67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70C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 sz="3200" dirty="0">
                    <a:solidFill>
                      <a:srgbClr val="FF0000"/>
                    </a:solidFill>
                  </a:endParaRPr>
                </a:p>
              </p:txBody>
            </p:sp>
          </p:grpSp>
        </p:grpSp>
        <p:sp>
          <p:nvSpPr>
            <p:cNvPr id="8" name="Line 10"/>
            <p:cNvSpPr>
              <a:spLocks noChangeShapeType="1"/>
            </p:cNvSpPr>
            <p:nvPr/>
          </p:nvSpPr>
          <p:spPr bwMode="auto">
            <a:xfrm flipH="1">
              <a:off x="6614158" y="2517934"/>
              <a:ext cx="1440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3200" dirty="0">
                <a:solidFill>
                  <a:srgbClr val="FF0000"/>
                </a:solidFill>
              </a:endParaRPr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 rot="16200000">
              <a:off x="6896785" y="2295748"/>
              <a:ext cx="148070" cy="454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3200" dirty="0">
                <a:solidFill>
                  <a:srgbClr val="FF0000"/>
                </a:solidFill>
              </a:endParaRPr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7199625" y="2524191"/>
              <a:ext cx="220098" cy="31491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0" y="0"/>
                </a:cxn>
                <a:cxn ang="0">
                  <a:pos x="100" y="302"/>
                </a:cxn>
              </a:cxnLst>
              <a:rect l="0" t="0" r="r" b="b"/>
              <a:pathLst>
                <a:path w="100" h="302">
                  <a:moveTo>
                    <a:pt x="0" y="0"/>
                  </a:moveTo>
                  <a:lnTo>
                    <a:pt x="100" y="0"/>
                  </a:lnTo>
                  <a:lnTo>
                    <a:pt x="100" y="302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3200" dirty="0">
                <a:solidFill>
                  <a:srgbClr val="FF0000"/>
                </a:solidFill>
              </a:endParaRPr>
            </a:p>
          </p:txBody>
        </p:sp>
        <p:sp>
          <p:nvSpPr>
            <p:cNvPr id="13" name="Rectangle 2"/>
            <p:cNvSpPr>
              <a:spLocks noChangeArrowheads="1"/>
            </p:cNvSpPr>
            <p:nvPr/>
          </p:nvSpPr>
          <p:spPr bwMode="auto">
            <a:xfrm>
              <a:off x="6367752" y="2414702"/>
              <a:ext cx="174201" cy="2043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Cambria" pitchFamily="18" charset="0"/>
                  <a:ea typeface="Calibri" pitchFamily="34" charset="0"/>
                  <a:cs typeface="Times New Roman" pitchFamily="18" charset="0"/>
                </a:rPr>
                <a:t>3</a:t>
              </a:r>
              <a:endParaRPr kumimoji="0" lang="en-US" sz="3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2"/>
            <p:cNvSpPr>
              <a:spLocks noChangeArrowheads="1"/>
            </p:cNvSpPr>
            <p:nvPr/>
          </p:nvSpPr>
          <p:spPr bwMode="auto">
            <a:xfrm>
              <a:off x="6744706" y="2251517"/>
              <a:ext cx="448841" cy="1538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000" dirty="0">
                  <a:solidFill>
                    <a:srgbClr val="FF0000"/>
                  </a:solidFill>
                  <a:latin typeface="Cambria" pitchFamily="18" charset="0"/>
                  <a:cs typeface="Times New Roman" pitchFamily="18" charset="0"/>
                </a:rPr>
                <a:t>R</a:t>
              </a:r>
              <a:r>
                <a:rPr lang="en-US" sz="1000" dirty="0" smtClean="0">
                  <a:solidFill>
                    <a:srgbClr val="FF0000"/>
                  </a:solidFill>
                  <a:latin typeface="Cambria"/>
                  <a:cs typeface="Times New Roman" pitchFamily="18" charset="0"/>
                </a:rPr>
                <a:t>≈470</a:t>
              </a:r>
              <a:r>
                <a:rPr lang="el-GR" sz="1000" dirty="0" smtClean="0">
                  <a:solidFill>
                    <a:srgbClr val="FF0000"/>
                  </a:solidFill>
                  <a:latin typeface="Cambria"/>
                  <a:cs typeface="Times New Roman" pitchFamily="18" charset="0"/>
                </a:rPr>
                <a:t>Ω</a:t>
              </a:r>
              <a:endParaRPr kumimoji="0" lang="en-US" sz="1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" name="Rectangle 2"/>
            <p:cNvSpPr>
              <a:spLocks noChangeArrowheads="1"/>
            </p:cNvSpPr>
            <p:nvPr/>
          </p:nvSpPr>
          <p:spPr bwMode="auto">
            <a:xfrm>
              <a:off x="5345398" y="2422059"/>
              <a:ext cx="174201" cy="2043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100" dirty="0">
                  <a:solidFill>
                    <a:srgbClr val="FF0000"/>
                  </a:solidFill>
                  <a:latin typeface="Cambria" pitchFamily="18" charset="0"/>
                  <a:cs typeface="Times New Roman" pitchFamily="18" charset="0"/>
                </a:rPr>
                <a:t>4</a:t>
              </a:r>
              <a:endParaRPr kumimoji="0" lang="en-US" sz="3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40" name="Group 8"/>
            <p:cNvGrpSpPr>
              <a:grpSpLocks/>
            </p:cNvGrpSpPr>
            <p:nvPr/>
          </p:nvGrpSpPr>
          <p:grpSpPr bwMode="auto">
            <a:xfrm>
              <a:off x="4626278" y="2387538"/>
              <a:ext cx="549870" cy="120824"/>
              <a:chOff x="4534" y="3402"/>
              <a:chExt cx="510" cy="112"/>
            </a:xfrm>
          </p:grpSpPr>
          <p:sp>
            <p:nvSpPr>
              <p:cNvPr id="41" name="Line 12"/>
              <p:cNvSpPr>
                <a:spLocks noChangeShapeType="1"/>
              </p:cNvSpPr>
              <p:nvPr/>
            </p:nvSpPr>
            <p:spPr bwMode="auto">
              <a:xfrm flipH="1">
                <a:off x="4856" y="3513"/>
                <a:ext cx="188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oval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28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2" name="Line 11"/>
              <p:cNvSpPr>
                <a:spLocks noChangeShapeType="1"/>
              </p:cNvSpPr>
              <p:nvPr/>
            </p:nvSpPr>
            <p:spPr bwMode="auto">
              <a:xfrm>
                <a:off x="4534" y="3514"/>
                <a:ext cx="18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oval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28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3" name="Line 10"/>
              <p:cNvSpPr>
                <a:spLocks noChangeShapeType="1"/>
              </p:cNvSpPr>
              <p:nvPr/>
            </p:nvSpPr>
            <p:spPr bwMode="auto">
              <a:xfrm>
                <a:off x="4661" y="3433"/>
                <a:ext cx="256" cy="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fr-FR" sz="28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4" name="Line 9"/>
              <p:cNvSpPr>
                <a:spLocks noChangeShapeType="1"/>
              </p:cNvSpPr>
              <p:nvPr/>
            </p:nvSpPr>
            <p:spPr bwMode="auto">
              <a:xfrm>
                <a:off x="4742" y="3402"/>
                <a:ext cx="94" cy="1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fr-FR" sz="2800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47" name="Freeform 8"/>
            <p:cNvSpPr>
              <a:spLocks/>
            </p:cNvSpPr>
            <p:nvPr/>
          </p:nvSpPr>
          <p:spPr bwMode="auto">
            <a:xfrm flipV="1">
              <a:off x="6608712" y="3049028"/>
              <a:ext cx="810651" cy="3331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0" y="0"/>
                </a:cxn>
                <a:cxn ang="0">
                  <a:pos x="100" y="302"/>
                </a:cxn>
              </a:cxnLst>
              <a:rect l="0" t="0" r="r" b="b"/>
              <a:pathLst>
                <a:path w="100" h="302">
                  <a:moveTo>
                    <a:pt x="0" y="0"/>
                  </a:moveTo>
                  <a:lnTo>
                    <a:pt x="100" y="0"/>
                  </a:lnTo>
                  <a:lnTo>
                    <a:pt x="100" y="302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3200" dirty="0">
                <a:solidFill>
                  <a:srgbClr val="FF0000"/>
                </a:solidFill>
              </a:endParaRPr>
            </a:p>
          </p:txBody>
        </p:sp>
        <p:sp>
          <p:nvSpPr>
            <p:cNvPr id="48" name="Text Box 3"/>
            <p:cNvSpPr txBox="1">
              <a:spLocks noChangeArrowheads="1"/>
            </p:cNvSpPr>
            <p:nvPr/>
          </p:nvSpPr>
          <p:spPr bwMode="auto">
            <a:xfrm>
              <a:off x="6209776" y="3306720"/>
              <a:ext cx="250068" cy="1538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000" dirty="0" smtClean="0">
                  <a:latin typeface="Cambria" pitchFamily="18" charset="0"/>
                  <a:cs typeface="Times New Roman" pitchFamily="18" charset="0"/>
                </a:rPr>
                <a:t>GND</a:t>
              </a:r>
              <a:endParaRPr kumimoji="0" lang="fr-FR" sz="1000" b="0" i="0" u="none" strike="noStrike" cap="none" normalizeH="0" baseline="0" dirty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9" name="Text Box 3"/>
            <p:cNvSpPr txBox="1">
              <a:spLocks noChangeArrowheads="1"/>
            </p:cNvSpPr>
            <p:nvPr/>
          </p:nvSpPr>
          <p:spPr bwMode="auto">
            <a:xfrm>
              <a:off x="5322531" y="3305188"/>
              <a:ext cx="250068" cy="1538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000" dirty="0" smtClean="0">
                  <a:latin typeface="Cambria" pitchFamily="18" charset="0"/>
                  <a:cs typeface="Times New Roman" pitchFamily="18" charset="0"/>
                </a:rPr>
                <a:t>GND</a:t>
              </a:r>
              <a:endParaRPr kumimoji="0" lang="fr-FR" sz="1000" b="0" i="0" u="none" strike="noStrike" cap="none" normalizeH="0" baseline="0" dirty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0" name="Forme libre 49"/>
            <p:cNvSpPr/>
            <p:nvPr/>
          </p:nvSpPr>
          <p:spPr bwMode="auto">
            <a:xfrm>
              <a:off x="4632960" y="2506980"/>
              <a:ext cx="537210" cy="876300"/>
            </a:xfrm>
            <a:custGeom>
              <a:avLst/>
              <a:gdLst>
                <a:gd name="connsiteX0" fmla="*/ 0 w 537210"/>
                <a:gd name="connsiteY0" fmla="*/ 0 h 876300"/>
                <a:gd name="connsiteX1" fmla="*/ 0 w 537210"/>
                <a:gd name="connsiteY1" fmla="*/ 876300 h 876300"/>
                <a:gd name="connsiteX2" fmla="*/ 537210 w 537210"/>
                <a:gd name="connsiteY2" fmla="*/ 876300 h 87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7210" h="876300">
                  <a:moveTo>
                    <a:pt x="0" y="0"/>
                  </a:moveTo>
                  <a:lnTo>
                    <a:pt x="0" y="876300"/>
                  </a:lnTo>
                  <a:lnTo>
                    <a:pt x="537210" y="87630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1" name="Text Box 3"/>
            <p:cNvSpPr txBox="1">
              <a:spLocks noChangeArrowheads="1"/>
            </p:cNvSpPr>
            <p:nvPr/>
          </p:nvSpPr>
          <p:spPr bwMode="auto">
            <a:xfrm>
              <a:off x="4701716" y="2532696"/>
              <a:ext cx="375103" cy="1538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000" dirty="0" smtClean="0">
                  <a:latin typeface="Cambria" pitchFamily="18" charset="0"/>
                  <a:cs typeface="Times New Roman" pitchFamily="18" charset="0"/>
                </a:rPr>
                <a:t>Button</a:t>
              </a:r>
              <a:endParaRPr kumimoji="0" lang="fr-FR" sz="1000" b="0" i="0" u="none" strike="noStrike" cap="none" normalizeH="0" baseline="0" dirty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2" name="Text Box 3"/>
            <p:cNvSpPr txBox="1">
              <a:spLocks noChangeArrowheads="1"/>
            </p:cNvSpPr>
            <p:nvPr/>
          </p:nvSpPr>
          <p:spPr bwMode="auto">
            <a:xfrm>
              <a:off x="7034928" y="2868186"/>
              <a:ext cx="227626" cy="1538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000" dirty="0" smtClean="0">
                  <a:latin typeface="Cambria" pitchFamily="18" charset="0"/>
                  <a:cs typeface="Times New Roman" pitchFamily="18" charset="0"/>
                </a:rPr>
                <a:t>LED</a:t>
              </a:r>
              <a:endParaRPr kumimoji="0" lang="fr-FR" sz="1000" b="0" i="0" u="none" strike="noStrike" cap="none" normalizeH="0" baseline="0" dirty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6" name="Rectangle 2"/>
            <p:cNvSpPr>
              <a:spLocks noChangeArrowheads="1"/>
            </p:cNvSpPr>
            <p:nvPr/>
          </p:nvSpPr>
          <p:spPr bwMode="auto">
            <a:xfrm>
              <a:off x="5664764" y="4392657"/>
              <a:ext cx="1370163" cy="2043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100" i="1" dirty="0" smtClean="0">
                  <a:solidFill>
                    <a:srgbClr val="FF0000"/>
                  </a:solidFill>
                  <a:latin typeface="Cambria" pitchFamily="18" charset="0"/>
                  <a:cs typeface="Times New Roman" pitchFamily="18" charset="0"/>
                </a:rPr>
                <a:t>Lecture précédente=1</a:t>
              </a:r>
              <a:endParaRPr kumimoji="0" lang="fr-FR" sz="32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9" name="Rectangle 2"/>
            <p:cNvSpPr>
              <a:spLocks noChangeArrowheads="1"/>
            </p:cNvSpPr>
            <p:nvPr/>
          </p:nvSpPr>
          <p:spPr bwMode="auto">
            <a:xfrm>
              <a:off x="3879185" y="4962883"/>
              <a:ext cx="1568380" cy="2043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100" i="1" dirty="0" smtClean="0">
                  <a:solidFill>
                    <a:srgbClr val="0000FF"/>
                  </a:solidFill>
                  <a:latin typeface="Cambria" pitchFamily="18" charset="0"/>
                  <a:cs typeface="Times New Roman" pitchFamily="18" charset="0"/>
                </a:rPr>
                <a:t>Précédente</a:t>
              </a:r>
              <a:r>
                <a:rPr lang="en-US" sz="1100" i="1" dirty="0" smtClean="0">
                  <a:solidFill>
                    <a:srgbClr val="0000FF"/>
                  </a:solidFill>
                  <a:latin typeface="Cambria" pitchFamily="18" charset="0"/>
                  <a:cs typeface="Times New Roman" pitchFamily="18" charset="0"/>
                </a:rPr>
                <a:t> - Nouvelle = 1</a:t>
              </a:r>
              <a:endParaRPr kumimoji="0" lang="en-US" sz="3200" b="0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1" name="Rectangle 2"/>
            <p:cNvSpPr>
              <a:spLocks noChangeArrowheads="1"/>
            </p:cNvSpPr>
            <p:nvPr/>
          </p:nvSpPr>
          <p:spPr bwMode="auto">
            <a:xfrm>
              <a:off x="5952190" y="5423553"/>
              <a:ext cx="1130670" cy="2043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100" i="1" dirty="0" smtClean="0">
                  <a:solidFill>
                    <a:srgbClr val="FF0000"/>
                  </a:solidFill>
                  <a:latin typeface="Cambria" pitchFamily="18" charset="0"/>
                  <a:cs typeface="Times New Roman" pitchFamily="18" charset="0"/>
                </a:rPr>
                <a:t>Nouvelle lecture=0</a:t>
              </a:r>
              <a:endParaRPr kumimoji="0" lang="en-US" sz="32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55" name="Forme libre 54"/>
          <p:cNvSpPr/>
          <p:nvPr/>
        </p:nvSpPr>
        <p:spPr>
          <a:xfrm>
            <a:off x="4626278" y="4724266"/>
            <a:ext cx="2995851" cy="628346"/>
          </a:xfrm>
          <a:custGeom>
            <a:avLst/>
            <a:gdLst>
              <a:gd name="connsiteX0" fmla="*/ 0 w 3876541"/>
              <a:gd name="connsiteY0" fmla="*/ 12879 h 618186"/>
              <a:gd name="connsiteX1" fmla="*/ 1223493 w 3876541"/>
              <a:gd name="connsiteY1" fmla="*/ 12879 h 618186"/>
              <a:gd name="connsiteX2" fmla="*/ 1223493 w 3876541"/>
              <a:gd name="connsiteY2" fmla="*/ 618186 h 618186"/>
              <a:gd name="connsiteX3" fmla="*/ 2871988 w 3876541"/>
              <a:gd name="connsiteY3" fmla="*/ 618186 h 618186"/>
              <a:gd name="connsiteX4" fmla="*/ 2871988 w 3876541"/>
              <a:gd name="connsiteY4" fmla="*/ 0 h 618186"/>
              <a:gd name="connsiteX5" fmla="*/ 3876541 w 3876541"/>
              <a:gd name="connsiteY5" fmla="*/ 0 h 618186"/>
              <a:gd name="connsiteX0" fmla="*/ 0 w 3876541"/>
              <a:gd name="connsiteY0" fmla="*/ 12879 h 623266"/>
              <a:gd name="connsiteX1" fmla="*/ 1223493 w 3876541"/>
              <a:gd name="connsiteY1" fmla="*/ 12879 h 623266"/>
              <a:gd name="connsiteX2" fmla="*/ 1223493 w 3876541"/>
              <a:gd name="connsiteY2" fmla="*/ 618186 h 623266"/>
              <a:gd name="connsiteX3" fmla="*/ 2162065 w 3876541"/>
              <a:gd name="connsiteY3" fmla="*/ 623266 h 623266"/>
              <a:gd name="connsiteX4" fmla="*/ 2871988 w 3876541"/>
              <a:gd name="connsiteY4" fmla="*/ 0 h 623266"/>
              <a:gd name="connsiteX5" fmla="*/ 3876541 w 3876541"/>
              <a:gd name="connsiteY5" fmla="*/ 0 h 623266"/>
              <a:gd name="connsiteX0" fmla="*/ 0 w 3876541"/>
              <a:gd name="connsiteY0" fmla="*/ 17959 h 628346"/>
              <a:gd name="connsiteX1" fmla="*/ 1223493 w 3876541"/>
              <a:gd name="connsiteY1" fmla="*/ 17959 h 628346"/>
              <a:gd name="connsiteX2" fmla="*/ 1223493 w 3876541"/>
              <a:gd name="connsiteY2" fmla="*/ 623266 h 628346"/>
              <a:gd name="connsiteX3" fmla="*/ 2162065 w 3876541"/>
              <a:gd name="connsiteY3" fmla="*/ 628346 h 628346"/>
              <a:gd name="connsiteX4" fmla="*/ 2162065 w 3876541"/>
              <a:gd name="connsiteY4" fmla="*/ 0 h 628346"/>
              <a:gd name="connsiteX5" fmla="*/ 3876541 w 3876541"/>
              <a:gd name="connsiteY5" fmla="*/ 5080 h 628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76541" h="628346">
                <a:moveTo>
                  <a:pt x="0" y="17959"/>
                </a:moveTo>
                <a:lnTo>
                  <a:pt x="1223493" y="17959"/>
                </a:lnTo>
                <a:lnTo>
                  <a:pt x="1223493" y="623266"/>
                </a:lnTo>
                <a:lnTo>
                  <a:pt x="2162065" y="628346"/>
                </a:lnTo>
                <a:lnTo>
                  <a:pt x="2162065" y="0"/>
                </a:lnTo>
                <a:lnTo>
                  <a:pt x="3876541" y="5080"/>
                </a:lnTo>
              </a:path>
            </a:pathLst>
          </a:cu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Forme libre 56"/>
          <p:cNvSpPr/>
          <p:nvPr/>
        </p:nvSpPr>
        <p:spPr>
          <a:xfrm>
            <a:off x="4868907" y="4672464"/>
            <a:ext cx="0" cy="141668"/>
          </a:xfrm>
          <a:custGeom>
            <a:avLst/>
            <a:gdLst>
              <a:gd name="connsiteX0" fmla="*/ 0 w 12879"/>
              <a:gd name="connsiteY0" fmla="*/ 0 h 141668"/>
              <a:gd name="connsiteX1" fmla="*/ 12879 w 12879"/>
              <a:gd name="connsiteY1" fmla="*/ 141668 h 141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879" h="141668">
                <a:moveTo>
                  <a:pt x="0" y="0"/>
                </a:moveTo>
                <a:lnTo>
                  <a:pt x="12879" y="141668"/>
                </a:ln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Forme libre 57"/>
          <p:cNvSpPr/>
          <p:nvPr/>
        </p:nvSpPr>
        <p:spPr>
          <a:xfrm>
            <a:off x="4994365" y="4672464"/>
            <a:ext cx="0" cy="141668"/>
          </a:xfrm>
          <a:custGeom>
            <a:avLst/>
            <a:gdLst>
              <a:gd name="connsiteX0" fmla="*/ 0 w 12879"/>
              <a:gd name="connsiteY0" fmla="*/ 0 h 141668"/>
              <a:gd name="connsiteX1" fmla="*/ 12879 w 12879"/>
              <a:gd name="connsiteY1" fmla="*/ 141668 h 141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879" h="141668">
                <a:moveTo>
                  <a:pt x="0" y="0"/>
                </a:moveTo>
                <a:lnTo>
                  <a:pt x="12879" y="141668"/>
                </a:ln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9" name="Forme libre 58"/>
          <p:cNvSpPr/>
          <p:nvPr/>
        </p:nvSpPr>
        <p:spPr>
          <a:xfrm>
            <a:off x="5370739" y="4672464"/>
            <a:ext cx="0" cy="141668"/>
          </a:xfrm>
          <a:custGeom>
            <a:avLst/>
            <a:gdLst>
              <a:gd name="connsiteX0" fmla="*/ 0 w 12879"/>
              <a:gd name="connsiteY0" fmla="*/ 0 h 141668"/>
              <a:gd name="connsiteX1" fmla="*/ 12879 w 12879"/>
              <a:gd name="connsiteY1" fmla="*/ 141668 h 141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879" h="141668">
                <a:moveTo>
                  <a:pt x="0" y="0"/>
                </a:moveTo>
                <a:lnTo>
                  <a:pt x="12879" y="141668"/>
                </a:ln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2" name="Forme libre 61"/>
          <p:cNvSpPr/>
          <p:nvPr/>
        </p:nvSpPr>
        <p:spPr>
          <a:xfrm>
            <a:off x="4743448" y="4672464"/>
            <a:ext cx="0" cy="141668"/>
          </a:xfrm>
          <a:custGeom>
            <a:avLst/>
            <a:gdLst>
              <a:gd name="connsiteX0" fmla="*/ 0 w 12879"/>
              <a:gd name="connsiteY0" fmla="*/ 0 h 141668"/>
              <a:gd name="connsiteX1" fmla="*/ 12879 w 12879"/>
              <a:gd name="connsiteY1" fmla="*/ 141668 h 141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879" h="141668">
                <a:moveTo>
                  <a:pt x="0" y="0"/>
                </a:moveTo>
                <a:lnTo>
                  <a:pt x="12879" y="141668"/>
                </a:ln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Forme libre 62"/>
          <p:cNvSpPr/>
          <p:nvPr/>
        </p:nvSpPr>
        <p:spPr>
          <a:xfrm>
            <a:off x="5119823" y="4672464"/>
            <a:ext cx="0" cy="141668"/>
          </a:xfrm>
          <a:custGeom>
            <a:avLst/>
            <a:gdLst>
              <a:gd name="connsiteX0" fmla="*/ 0 w 12879"/>
              <a:gd name="connsiteY0" fmla="*/ 0 h 141668"/>
              <a:gd name="connsiteX1" fmla="*/ 12879 w 12879"/>
              <a:gd name="connsiteY1" fmla="*/ 141668 h 141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879" h="141668">
                <a:moveTo>
                  <a:pt x="0" y="0"/>
                </a:moveTo>
                <a:lnTo>
                  <a:pt x="12879" y="141668"/>
                </a:ln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4" name="Forme libre 63"/>
          <p:cNvSpPr/>
          <p:nvPr/>
        </p:nvSpPr>
        <p:spPr>
          <a:xfrm>
            <a:off x="5496197" y="4672464"/>
            <a:ext cx="0" cy="141668"/>
          </a:xfrm>
          <a:custGeom>
            <a:avLst/>
            <a:gdLst>
              <a:gd name="connsiteX0" fmla="*/ 0 w 12879"/>
              <a:gd name="connsiteY0" fmla="*/ 0 h 141668"/>
              <a:gd name="connsiteX1" fmla="*/ 12879 w 12879"/>
              <a:gd name="connsiteY1" fmla="*/ 141668 h 141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879" h="141668">
                <a:moveTo>
                  <a:pt x="0" y="0"/>
                </a:moveTo>
                <a:lnTo>
                  <a:pt x="12879" y="141668"/>
                </a:ln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Forme libre 67"/>
          <p:cNvSpPr/>
          <p:nvPr/>
        </p:nvSpPr>
        <p:spPr>
          <a:xfrm>
            <a:off x="5245281" y="4672464"/>
            <a:ext cx="0" cy="141668"/>
          </a:xfrm>
          <a:custGeom>
            <a:avLst/>
            <a:gdLst>
              <a:gd name="connsiteX0" fmla="*/ 0 w 12879"/>
              <a:gd name="connsiteY0" fmla="*/ 0 h 141668"/>
              <a:gd name="connsiteX1" fmla="*/ 12879 w 12879"/>
              <a:gd name="connsiteY1" fmla="*/ 141668 h 141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879" h="141668">
                <a:moveTo>
                  <a:pt x="0" y="0"/>
                </a:moveTo>
                <a:lnTo>
                  <a:pt x="12879" y="141668"/>
                </a:ln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9" name="Forme libre 68"/>
          <p:cNvSpPr/>
          <p:nvPr/>
        </p:nvSpPr>
        <p:spPr>
          <a:xfrm>
            <a:off x="5638085" y="5281885"/>
            <a:ext cx="0" cy="141668"/>
          </a:xfrm>
          <a:custGeom>
            <a:avLst/>
            <a:gdLst>
              <a:gd name="connsiteX0" fmla="*/ 0 w 12879"/>
              <a:gd name="connsiteY0" fmla="*/ 0 h 141668"/>
              <a:gd name="connsiteX1" fmla="*/ 12879 w 12879"/>
              <a:gd name="connsiteY1" fmla="*/ 141668 h 141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879" h="141668">
                <a:moveTo>
                  <a:pt x="0" y="0"/>
                </a:moveTo>
                <a:lnTo>
                  <a:pt x="12879" y="141668"/>
                </a:ln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81" name="Connecteur droit avec flèche 80"/>
          <p:cNvCxnSpPr/>
          <p:nvPr/>
        </p:nvCxnSpPr>
        <p:spPr>
          <a:xfrm>
            <a:off x="5574556" y="4902119"/>
            <a:ext cx="0" cy="197151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Connecteur droit avec flèche 82"/>
          <p:cNvCxnSpPr/>
          <p:nvPr/>
        </p:nvCxnSpPr>
        <p:spPr>
          <a:xfrm flipH="1">
            <a:off x="5496197" y="4465320"/>
            <a:ext cx="141888" cy="20378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Connecteur droit avec flèche 84"/>
          <p:cNvCxnSpPr/>
          <p:nvPr/>
        </p:nvCxnSpPr>
        <p:spPr>
          <a:xfrm flipH="1" flipV="1">
            <a:off x="5664765" y="5426437"/>
            <a:ext cx="235912" cy="15475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Flèche courbée vers le haut 1"/>
          <p:cNvSpPr/>
          <p:nvPr/>
        </p:nvSpPr>
        <p:spPr bwMode="auto">
          <a:xfrm rot="15871812">
            <a:off x="9385328" y="2513940"/>
            <a:ext cx="778461" cy="629297"/>
          </a:xfrm>
          <a:prstGeom prst="curvedUpArrow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 sz="3200" dirty="0">
              <a:solidFill>
                <a:srgbClr val="FF0000"/>
              </a:solidFill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9121050" y="2679141"/>
            <a:ext cx="934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 smtClean="0"/>
              <a:t>Arduino</a:t>
            </a:r>
            <a:endParaRPr lang="fr-FR" i="1" dirty="0"/>
          </a:p>
        </p:txBody>
      </p:sp>
    </p:spTree>
    <p:extLst>
      <p:ext uri="{BB962C8B-B14F-4D97-AF65-F5344CB8AC3E}">
        <p14:creationId xmlns="" xmlns:p14="http://schemas.microsoft.com/office/powerpoint/2010/main" val="2001482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fr-FR" sz="1000"/>
              <a:t>Systèmes Embarqués                                                    A. Oumnad</a:t>
            </a:r>
            <a:endParaRPr lang="fr-FR" sz="10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92AE5D-D970-4964-A73F-3F6FF56DDC90}" type="slidenum">
              <a:rPr lang="fr-FR" smtClean="0"/>
              <a:pPr/>
              <a:t>2</a:t>
            </a:fld>
            <a:endParaRPr lang="fr-FR" dirty="0"/>
          </a:p>
        </p:txBody>
      </p:sp>
      <p:sp>
        <p:nvSpPr>
          <p:cNvPr id="194646" name="Rectangle 86"/>
          <p:cNvSpPr>
            <a:spLocks noChangeArrowheads="1"/>
          </p:cNvSpPr>
          <p:nvPr/>
        </p:nvSpPr>
        <p:spPr bwMode="auto">
          <a:xfrm>
            <a:off x="0" y="0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95143" name="Rectangle 583"/>
          <p:cNvSpPr>
            <a:spLocks noChangeArrowheads="1"/>
          </p:cNvSpPr>
          <p:nvPr/>
        </p:nvSpPr>
        <p:spPr bwMode="auto">
          <a:xfrm>
            <a:off x="0" y="0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pSp>
        <p:nvGrpSpPr>
          <p:cNvPr id="90" name="Groupe 89"/>
          <p:cNvGrpSpPr/>
          <p:nvPr/>
        </p:nvGrpSpPr>
        <p:grpSpPr>
          <a:xfrm>
            <a:off x="2118634" y="129418"/>
            <a:ext cx="7133217" cy="6112011"/>
            <a:chOff x="2118634" y="129418"/>
            <a:chExt cx="7133217" cy="6112011"/>
          </a:xfrm>
        </p:grpSpPr>
        <p:pic>
          <p:nvPicPr>
            <p:cNvPr id="112" name="Image 111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 l="4896" t="7798" r="4788" b="8766"/>
            <a:stretch/>
          </p:blipFill>
          <p:spPr>
            <a:xfrm rot="5400000">
              <a:off x="2758716" y="972145"/>
              <a:ext cx="5799320" cy="4113866"/>
            </a:xfrm>
            <a:prstGeom prst="rect">
              <a:avLst/>
            </a:prstGeom>
          </p:spPr>
        </p:pic>
        <p:sp>
          <p:nvSpPr>
            <p:cNvPr id="121" name="Text Box 75"/>
            <p:cNvSpPr txBox="1">
              <a:spLocks noChangeArrowheads="1"/>
            </p:cNvSpPr>
            <p:nvPr/>
          </p:nvSpPr>
          <p:spPr bwMode="auto">
            <a:xfrm>
              <a:off x="7695595" y="5499414"/>
              <a:ext cx="291922" cy="165743"/>
            </a:xfrm>
            <a:prstGeom prst="rect">
              <a:avLst/>
            </a:prstGeom>
            <a:solidFill>
              <a:srgbClr val="00B0F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D0</a:t>
              </a:r>
              <a:endParaRPr kumimoji="0" lang="fr-FR" sz="1000" b="0" i="0" u="none" strike="noStrike" cap="none" normalizeH="0" baseline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2" name="Text Box 74"/>
            <p:cNvSpPr txBox="1">
              <a:spLocks noChangeArrowheads="1"/>
            </p:cNvSpPr>
            <p:nvPr/>
          </p:nvSpPr>
          <p:spPr bwMode="auto">
            <a:xfrm>
              <a:off x="7695595" y="5293309"/>
              <a:ext cx="291922" cy="165743"/>
            </a:xfrm>
            <a:prstGeom prst="rect">
              <a:avLst/>
            </a:prstGeom>
            <a:solidFill>
              <a:srgbClr val="00B0F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D1</a:t>
              </a:r>
              <a:endParaRPr kumimoji="0" lang="fr-FR" sz="1000" b="0" i="0" u="none" strike="noStrike" cap="none" normalizeH="0" baseline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" name="Text Box 73"/>
            <p:cNvSpPr txBox="1">
              <a:spLocks noChangeArrowheads="1"/>
            </p:cNvSpPr>
            <p:nvPr/>
          </p:nvSpPr>
          <p:spPr bwMode="auto">
            <a:xfrm>
              <a:off x="7695595" y="5095791"/>
              <a:ext cx="291922" cy="165743"/>
            </a:xfrm>
            <a:prstGeom prst="rect">
              <a:avLst/>
            </a:prstGeom>
            <a:solidFill>
              <a:srgbClr val="00B0F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D2</a:t>
              </a:r>
              <a:endParaRPr kumimoji="0" lang="fr-FR" sz="1000" b="0" i="0" u="none" strike="noStrike" cap="none" normalizeH="0" baseline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4" name="Text Box 72"/>
            <p:cNvSpPr txBox="1">
              <a:spLocks noChangeArrowheads="1"/>
            </p:cNvSpPr>
            <p:nvPr/>
          </p:nvSpPr>
          <p:spPr bwMode="auto">
            <a:xfrm>
              <a:off x="7695595" y="4897414"/>
              <a:ext cx="291922" cy="165743"/>
            </a:xfrm>
            <a:prstGeom prst="rect">
              <a:avLst/>
            </a:prstGeom>
            <a:solidFill>
              <a:srgbClr val="00B0F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D3</a:t>
              </a:r>
              <a:endParaRPr kumimoji="0" lang="fr-FR" sz="1000" b="0" i="0" u="none" strike="noStrike" cap="none" normalizeH="0" baseline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5" name="Text Box 71"/>
            <p:cNvSpPr txBox="1">
              <a:spLocks noChangeArrowheads="1"/>
            </p:cNvSpPr>
            <p:nvPr/>
          </p:nvSpPr>
          <p:spPr bwMode="auto">
            <a:xfrm>
              <a:off x="7695595" y="4699896"/>
              <a:ext cx="291922" cy="165743"/>
            </a:xfrm>
            <a:prstGeom prst="rect">
              <a:avLst/>
            </a:prstGeom>
            <a:solidFill>
              <a:srgbClr val="00B0F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D4</a:t>
              </a:r>
              <a:endParaRPr kumimoji="0" lang="fr-FR" sz="1000" b="0" i="0" u="none" strike="noStrike" cap="none" normalizeH="0" baseline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6" name="Text Box 70"/>
            <p:cNvSpPr txBox="1">
              <a:spLocks noChangeArrowheads="1"/>
            </p:cNvSpPr>
            <p:nvPr/>
          </p:nvSpPr>
          <p:spPr bwMode="auto">
            <a:xfrm>
              <a:off x="7695595" y="4503237"/>
              <a:ext cx="291922" cy="165743"/>
            </a:xfrm>
            <a:prstGeom prst="rect">
              <a:avLst/>
            </a:prstGeom>
            <a:solidFill>
              <a:srgbClr val="00B0F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D5</a:t>
              </a:r>
              <a:endParaRPr kumimoji="0" lang="fr-FR" sz="1000" b="0" i="0" u="none" strike="noStrike" cap="none" normalizeH="0" baseline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7" name="Text Box 69"/>
            <p:cNvSpPr txBox="1">
              <a:spLocks noChangeArrowheads="1"/>
            </p:cNvSpPr>
            <p:nvPr/>
          </p:nvSpPr>
          <p:spPr bwMode="auto">
            <a:xfrm>
              <a:off x="7695595" y="4304002"/>
              <a:ext cx="291922" cy="165743"/>
            </a:xfrm>
            <a:prstGeom prst="rect">
              <a:avLst/>
            </a:prstGeom>
            <a:solidFill>
              <a:srgbClr val="00B0F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 dirty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D6</a:t>
              </a:r>
              <a:endParaRPr kumimoji="0" lang="fr-FR" sz="1000" b="0" i="0" u="none" strike="noStrike" cap="none" normalizeH="0" baseline="0" dirty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8" name="Text Box 68"/>
            <p:cNvSpPr txBox="1">
              <a:spLocks noChangeArrowheads="1"/>
            </p:cNvSpPr>
            <p:nvPr/>
          </p:nvSpPr>
          <p:spPr bwMode="auto">
            <a:xfrm>
              <a:off x="7695595" y="4106484"/>
              <a:ext cx="291922" cy="165743"/>
            </a:xfrm>
            <a:prstGeom prst="rect">
              <a:avLst/>
            </a:prstGeom>
            <a:solidFill>
              <a:srgbClr val="00B0F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 dirty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D7</a:t>
              </a:r>
              <a:endParaRPr kumimoji="0" lang="fr-FR" sz="1000" b="0" i="0" u="none" strike="noStrike" cap="none" normalizeH="0" baseline="0" dirty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9" name="Text Box 67"/>
            <p:cNvSpPr txBox="1">
              <a:spLocks noChangeArrowheads="1"/>
            </p:cNvSpPr>
            <p:nvPr/>
          </p:nvSpPr>
          <p:spPr bwMode="auto">
            <a:xfrm>
              <a:off x="8015850" y="4897414"/>
              <a:ext cx="287629" cy="165743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none" lIns="18000" tIns="0" rIns="1800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PWM</a:t>
              </a:r>
              <a:endParaRPr kumimoji="0" lang="fr-FR" sz="1000" b="0" i="0" u="none" strike="noStrike" cap="none" normalizeH="0" baseline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0" name="Text Box 66"/>
            <p:cNvSpPr txBox="1">
              <a:spLocks noChangeArrowheads="1"/>
            </p:cNvSpPr>
            <p:nvPr/>
          </p:nvSpPr>
          <p:spPr bwMode="auto">
            <a:xfrm>
              <a:off x="8015850" y="4501520"/>
              <a:ext cx="287629" cy="165743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none" lIns="18000" tIns="0" rIns="1800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PWM</a:t>
              </a:r>
              <a:endParaRPr kumimoji="0" lang="fr-FR" sz="1000" b="0" i="0" u="none" strike="noStrike" cap="none" normalizeH="0" baseline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1" name="Text Box 65"/>
            <p:cNvSpPr txBox="1">
              <a:spLocks noChangeArrowheads="1"/>
            </p:cNvSpPr>
            <p:nvPr/>
          </p:nvSpPr>
          <p:spPr bwMode="auto">
            <a:xfrm>
              <a:off x="8015850" y="4304002"/>
              <a:ext cx="287629" cy="165743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none" lIns="18000" tIns="0" rIns="1800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 dirty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PWM</a:t>
              </a:r>
              <a:endParaRPr kumimoji="0" lang="fr-FR" sz="1000" b="0" i="0" u="none" strike="noStrike" cap="none" normalizeH="0" baseline="0" dirty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2" name="Text Box 64"/>
            <p:cNvSpPr txBox="1">
              <a:spLocks noChangeArrowheads="1"/>
            </p:cNvSpPr>
            <p:nvPr/>
          </p:nvSpPr>
          <p:spPr bwMode="auto">
            <a:xfrm>
              <a:off x="8022182" y="5293309"/>
              <a:ext cx="291922" cy="165743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720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TX</a:t>
              </a:r>
              <a:endParaRPr kumimoji="0" lang="fr-FR" sz="1000" b="0" i="0" u="none" strike="noStrike" cap="none" normalizeH="0" baseline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3" name="Text Box 63"/>
            <p:cNvSpPr txBox="1">
              <a:spLocks noChangeArrowheads="1"/>
            </p:cNvSpPr>
            <p:nvPr/>
          </p:nvSpPr>
          <p:spPr bwMode="auto">
            <a:xfrm>
              <a:off x="8022182" y="5499414"/>
              <a:ext cx="291922" cy="165743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720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RX</a:t>
              </a:r>
              <a:endParaRPr kumimoji="0" lang="fr-FR" sz="1000" b="0" i="0" u="none" strike="noStrike" cap="none" normalizeH="0" baseline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0" name="Text Box 56"/>
            <p:cNvSpPr txBox="1">
              <a:spLocks noChangeArrowheads="1"/>
            </p:cNvSpPr>
            <p:nvPr/>
          </p:nvSpPr>
          <p:spPr bwMode="auto">
            <a:xfrm>
              <a:off x="2962405" y="5475368"/>
              <a:ext cx="291922" cy="165743"/>
            </a:xfrm>
            <a:prstGeom prst="rect">
              <a:avLst/>
            </a:prstGeom>
            <a:solidFill>
              <a:srgbClr val="00B0F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D19</a:t>
              </a:r>
              <a:endParaRPr kumimoji="0" lang="fr-FR" sz="1000" b="0" i="0" u="none" strike="noStrike" cap="none" normalizeH="0" baseline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1" name="Text Box 55"/>
            <p:cNvSpPr txBox="1">
              <a:spLocks noChangeArrowheads="1"/>
            </p:cNvSpPr>
            <p:nvPr/>
          </p:nvSpPr>
          <p:spPr bwMode="auto">
            <a:xfrm>
              <a:off x="2962405" y="5276992"/>
              <a:ext cx="291922" cy="165743"/>
            </a:xfrm>
            <a:prstGeom prst="rect">
              <a:avLst/>
            </a:prstGeom>
            <a:solidFill>
              <a:srgbClr val="00B0F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D18</a:t>
              </a:r>
              <a:endParaRPr kumimoji="0" lang="fr-FR" sz="1000" b="0" i="0" u="none" strike="noStrike" cap="none" normalizeH="0" baseline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2" name="Text Box 54"/>
            <p:cNvSpPr txBox="1">
              <a:spLocks noChangeArrowheads="1"/>
            </p:cNvSpPr>
            <p:nvPr/>
          </p:nvSpPr>
          <p:spPr bwMode="auto">
            <a:xfrm>
              <a:off x="2962405" y="5088062"/>
              <a:ext cx="291922" cy="165743"/>
            </a:xfrm>
            <a:prstGeom prst="rect">
              <a:avLst/>
            </a:prstGeom>
            <a:solidFill>
              <a:srgbClr val="00B0F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D17</a:t>
              </a:r>
              <a:endParaRPr kumimoji="0" lang="fr-FR" sz="1000" b="0" i="0" u="none" strike="noStrike" cap="none" normalizeH="0" baseline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3" name="Text Box 53"/>
            <p:cNvSpPr txBox="1">
              <a:spLocks noChangeArrowheads="1"/>
            </p:cNvSpPr>
            <p:nvPr/>
          </p:nvSpPr>
          <p:spPr bwMode="auto">
            <a:xfrm>
              <a:off x="2962405" y="4893120"/>
              <a:ext cx="291922" cy="165743"/>
            </a:xfrm>
            <a:prstGeom prst="rect">
              <a:avLst/>
            </a:prstGeom>
            <a:solidFill>
              <a:srgbClr val="00B0F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D16</a:t>
              </a:r>
              <a:endParaRPr kumimoji="0" lang="fr-FR" sz="1000" b="0" i="0" u="none" strike="noStrike" cap="none" normalizeH="0" baseline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4" name="Text Box 52"/>
            <p:cNvSpPr txBox="1">
              <a:spLocks noChangeArrowheads="1"/>
            </p:cNvSpPr>
            <p:nvPr/>
          </p:nvSpPr>
          <p:spPr bwMode="auto">
            <a:xfrm>
              <a:off x="2962405" y="4692167"/>
              <a:ext cx="291922" cy="165743"/>
            </a:xfrm>
            <a:prstGeom prst="rect">
              <a:avLst/>
            </a:prstGeom>
            <a:solidFill>
              <a:srgbClr val="00B0F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D15</a:t>
              </a:r>
              <a:endParaRPr kumimoji="0" lang="fr-FR" sz="1000" b="0" i="0" u="none" strike="noStrike" cap="none" normalizeH="0" baseline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5" name="Text Box 51"/>
            <p:cNvSpPr txBox="1">
              <a:spLocks noChangeArrowheads="1"/>
            </p:cNvSpPr>
            <p:nvPr/>
          </p:nvSpPr>
          <p:spPr bwMode="auto">
            <a:xfrm>
              <a:off x="2962405" y="4494650"/>
              <a:ext cx="291922" cy="165743"/>
            </a:xfrm>
            <a:prstGeom prst="rect">
              <a:avLst/>
            </a:prstGeom>
            <a:solidFill>
              <a:srgbClr val="00B0F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D14</a:t>
              </a:r>
              <a:endParaRPr kumimoji="0" lang="fr-FR" sz="1000" b="0" i="0" u="none" strike="noStrike" cap="none" normalizeH="0" baseline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6" name="Text Box 50"/>
            <p:cNvSpPr txBox="1">
              <a:spLocks noChangeArrowheads="1"/>
            </p:cNvSpPr>
            <p:nvPr/>
          </p:nvSpPr>
          <p:spPr bwMode="auto">
            <a:xfrm>
              <a:off x="8018426" y="3197902"/>
              <a:ext cx="287629" cy="165743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none" lIns="18000" tIns="0" rIns="1800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 dirty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PWM</a:t>
              </a:r>
              <a:endParaRPr kumimoji="0" lang="fr-FR" sz="1000" b="0" i="0" u="none" strike="noStrike" cap="none" normalizeH="0" baseline="0" dirty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7" name="Text Box 49"/>
            <p:cNvSpPr txBox="1">
              <a:spLocks noChangeArrowheads="1"/>
            </p:cNvSpPr>
            <p:nvPr/>
          </p:nvSpPr>
          <p:spPr bwMode="auto">
            <a:xfrm>
              <a:off x="8018426" y="3588644"/>
              <a:ext cx="287629" cy="165743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none" lIns="18000" tIns="0" rIns="1800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PWM</a:t>
              </a:r>
              <a:endParaRPr kumimoji="0" lang="fr-FR" sz="1000" b="0" i="0" u="none" strike="noStrike" cap="none" normalizeH="0" baseline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8" name="Text Box 48"/>
            <p:cNvSpPr txBox="1">
              <a:spLocks noChangeArrowheads="1"/>
            </p:cNvSpPr>
            <p:nvPr/>
          </p:nvSpPr>
          <p:spPr bwMode="auto">
            <a:xfrm>
              <a:off x="8018426" y="3391985"/>
              <a:ext cx="287629" cy="165743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none" lIns="18000" tIns="0" rIns="1800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 dirty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PWM</a:t>
              </a:r>
              <a:endParaRPr kumimoji="0" lang="fr-FR" sz="1000" b="0" i="0" u="none" strike="noStrike" cap="none" normalizeH="0" baseline="0" dirty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9" name="Text Box 47"/>
            <p:cNvSpPr txBox="1">
              <a:spLocks noChangeArrowheads="1"/>
            </p:cNvSpPr>
            <p:nvPr/>
          </p:nvSpPr>
          <p:spPr bwMode="auto">
            <a:xfrm>
              <a:off x="3292105" y="5483956"/>
              <a:ext cx="291922" cy="16574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 dirty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A5</a:t>
              </a:r>
              <a:endParaRPr kumimoji="0" lang="fr-FR" sz="1000" b="0" i="0" u="none" strike="noStrike" cap="none" normalizeH="0" baseline="0" dirty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50" name="Text Box 46"/>
            <p:cNvSpPr txBox="1">
              <a:spLocks noChangeArrowheads="1"/>
            </p:cNvSpPr>
            <p:nvPr/>
          </p:nvSpPr>
          <p:spPr bwMode="auto">
            <a:xfrm>
              <a:off x="3292105" y="5285580"/>
              <a:ext cx="291922" cy="16574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A4</a:t>
              </a:r>
              <a:endParaRPr kumimoji="0" lang="fr-FR" sz="1000" b="0" i="0" u="none" strike="noStrike" cap="none" normalizeH="0" baseline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51" name="Text Box 45"/>
            <p:cNvSpPr txBox="1">
              <a:spLocks noChangeArrowheads="1"/>
            </p:cNvSpPr>
            <p:nvPr/>
          </p:nvSpPr>
          <p:spPr bwMode="auto">
            <a:xfrm>
              <a:off x="3292105" y="5088062"/>
              <a:ext cx="291922" cy="16574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A3</a:t>
              </a:r>
              <a:endParaRPr kumimoji="0" lang="fr-FR" sz="1000" b="0" i="0" u="none" strike="noStrike" cap="none" normalizeH="0" baseline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52" name="Text Box 44"/>
            <p:cNvSpPr txBox="1">
              <a:spLocks noChangeArrowheads="1"/>
            </p:cNvSpPr>
            <p:nvPr/>
          </p:nvSpPr>
          <p:spPr bwMode="auto">
            <a:xfrm>
              <a:off x="3292105" y="4891403"/>
              <a:ext cx="291922" cy="16574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A2</a:t>
              </a:r>
              <a:endParaRPr kumimoji="0" lang="fr-FR" sz="1000" b="0" i="0" u="none" strike="noStrike" cap="none" normalizeH="0" baseline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53" name="Text Box 43"/>
            <p:cNvSpPr txBox="1">
              <a:spLocks noChangeArrowheads="1"/>
            </p:cNvSpPr>
            <p:nvPr/>
          </p:nvSpPr>
          <p:spPr bwMode="auto">
            <a:xfrm>
              <a:off x="3292105" y="4692167"/>
              <a:ext cx="291922" cy="16574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A1</a:t>
              </a:r>
              <a:endParaRPr kumimoji="0" lang="fr-FR" sz="1000" b="0" i="0" u="none" strike="noStrike" cap="none" normalizeH="0" baseline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54" name="Text Box 42"/>
            <p:cNvSpPr txBox="1">
              <a:spLocks noChangeArrowheads="1"/>
            </p:cNvSpPr>
            <p:nvPr/>
          </p:nvSpPr>
          <p:spPr bwMode="auto">
            <a:xfrm>
              <a:off x="3292105" y="4494650"/>
              <a:ext cx="291922" cy="16574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 dirty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A0</a:t>
              </a:r>
              <a:endParaRPr kumimoji="0" lang="fr-FR" sz="1000" b="0" i="0" u="none" strike="noStrike" cap="none" normalizeH="0" baseline="0" dirty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55" name="Text Box 41"/>
            <p:cNvSpPr txBox="1">
              <a:spLocks noChangeArrowheads="1"/>
            </p:cNvSpPr>
            <p:nvPr/>
          </p:nvSpPr>
          <p:spPr bwMode="auto">
            <a:xfrm>
              <a:off x="2628412" y="5275274"/>
              <a:ext cx="291922" cy="165743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SDA</a:t>
              </a:r>
              <a:endParaRPr kumimoji="0" lang="fr-FR" sz="1000" b="0" i="0" u="none" strike="noStrike" cap="none" normalizeH="0" baseline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56" name="Text Box 40"/>
            <p:cNvSpPr txBox="1">
              <a:spLocks noChangeArrowheads="1"/>
            </p:cNvSpPr>
            <p:nvPr/>
          </p:nvSpPr>
          <p:spPr bwMode="auto">
            <a:xfrm>
              <a:off x="2628412" y="5473651"/>
              <a:ext cx="291922" cy="165743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SCL</a:t>
              </a:r>
              <a:endParaRPr kumimoji="0" lang="fr-FR" sz="1000" b="0" i="0" u="none" strike="noStrike" cap="none" normalizeH="0" baseline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3" name="Text Box 33"/>
            <p:cNvSpPr txBox="1">
              <a:spLocks noChangeArrowheads="1"/>
            </p:cNvSpPr>
            <p:nvPr/>
          </p:nvSpPr>
          <p:spPr bwMode="auto">
            <a:xfrm>
              <a:off x="7695595" y="3788738"/>
              <a:ext cx="291922" cy="165743"/>
            </a:xfrm>
            <a:prstGeom prst="rect">
              <a:avLst/>
            </a:prstGeom>
            <a:solidFill>
              <a:srgbClr val="00B0F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D8</a:t>
              </a:r>
              <a:endParaRPr kumimoji="0" lang="fr-FR" sz="1000" b="0" i="0" u="none" strike="noStrike" cap="none" normalizeH="0" baseline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4" name="Text Box 32"/>
            <p:cNvSpPr txBox="1">
              <a:spLocks noChangeArrowheads="1"/>
            </p:cNvSpPr>
            <p:nvPr/>
          </p:nvSpPr>
          <p:spPr bwMode="auto">
            <a:xfrm>
              <a:off x="7695595" y="3589503"/>
              <a:ext cx="291922" cy="165743"/>
            </a:xfrm>
            <a:prstGeom prst="rect">
              <a:avLst/>
            </a:prstGeom>
            <a:solidFill>
              <a:srgbClr val="00B0F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D9</a:t>
              </a:r>
              <a:endParaRPr kumimoji="0" lang="fr-FR" sz="1000" b="0" i="0" u="none" strike="noStrike" cap="none" normalizeH="0" baseline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5" name="Text Box 31"/>
            <p:cNvSpPr txBox="1">
              <a:spLocks noChangeArrowheads="1"/>
            </p:cNvSpPr>
            <p:nvPr/>
          </p:nvSpPr>
          <p:spPr bwMode="auto">
            <a:xfrm>
              <a:off x="7695595" y="3390268"/>
              <a:ext cx="291922" cy="165743"/>
            </a:xfrm>
            <a:prstGeom prst="rect">
              <a:avLst/>
            </a:prstGeom>
            <a:solidFill>
              <a:srgbClr val="00B0F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D10</a:t>
              </a:r>
              <a:endParaRPr kumimoji="0" lang="fr-FR" sz="1000" b="0" i="0" u="none" strike="noStrike" cap="none" normalizeH="0" baseline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6" name="Text Box 30"/>
            <p:cNvSpPr txBox="1">
              <a:spLocks noChangeArrowheads="1"/>
            </p:cNvSpPr>
            <p:nvPr/>
          </p:nvSpPr>
          <p:spPr bwMode="auto">
            <a:xfrm>
              <a:off x="7695595" y="3197044"/>
              <a:ext cx="291922" cy="165743"/>
            </a:xfrm>
            <a:prstGeom prst="rect">
              <a:avLst/>
            </a:prstGeom>
            <a:solidFill>
              <a:srgbClr val="00B0F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8000" tIns="0" rIns="1800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 dirty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D11</a:t>
              </a:r>
              <a:endParaRPr kumimoji="0" lang="fr-FR" sz="1000" b="0" i="0" u="none" strike="noStrike" cap="none" normalizeH="0" baseline="0" dirty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7" name="Text Box 29"/>
            <p:cNvSpPr txBox="1">
              <a:spLocks noChangeArrowheads="1"/>
            </p:cNvSpPr>
            <p:nvPr/>
          </p:nvSpPr>
          <p:spPr bwMode="auto">
            <a:xfrm>
              <a:off x="7695595" y="2997808"/>
              <a:ext cx="291922" cy="165743"/>
            </a:xfrm>
            <a:prstGeom prst="rect">
              <a:avLst/>
            </a:prstGeom>
            <a:solidFill>
              <a:srgbClr val="00B0F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8000" tIns="0" rIns="1800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D12</a:t>
              </a:r>
              <a:endParaRPr kumimoji="0" lang="fr-FR" sz="1000" b="0" i="0" u="none" strike="noStrike" cap="none" normalizeH="0" baseline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8" name="Text Box 28"/>
            <p:cNvSpPr txBox="1">
              <a:spLocks noChangeArrowheads="1"/>
            </p:cNvSpPr>
            <p:nvPr/>
          </p:nvSpPr>
          <p:spPr bwMode="auto">
            <a:xfrm>
              <a:off x="7695595" y="2798573"/>
              <a:ext cx="291922" cy="165743"/>
            </a:xfrm>
            <a:prstGeom prst="rect">
              <a:avLst/>
            </a:prstGeom>
            <a:solidFill>
              <a:srgbClr val="00B0F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8000" tIns="0" rIns="1800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D13</a:t>
              </a:r>
              <a:endParaRPr kumimoji="0" lang="fr-FR" sz="1000" b="0" i="0" u="none" strike="noStrike" cap="none" normalizeH="0" baseline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9" name="Text Box 27"/>
            <p:cNvSpPr txBox="1">
              <a:spLocks noChangeArrowheads="1"/>
            </p:cNvSpPr>
            <p:nvPr/>
          </p:nvSpPr>
          <p:spPr bwMode="auto">
            <a:xfrm>
              <a:off x="8342975" y="2794279"/>
              <a:ext cx="340862" cy="165743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 dirty="0" smtClean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SCK</a:t>
              </a:r>
              <a:endParaRPr kumimoji="0" lang="fr-FR" sz="1000" b="0" i="0" u="none" strike="noStrike" cap="none" normalizeH="0" baseline="0" dirty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0" name="Text Box 26"/>
            <p:cNvSpPr txBox="1">
              <a:spLocks noChangeArrowheads="1"/>
            </p:cNvSpPr>
            <p:nvPr/>
          </p:nvSpPr>
          <p:spPr bwMode="auto">
            <a:xfrm>
              <a:off x="8342975" y="3185880"/>
              <a:ext cx="340862" cy="165743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 dirty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MOSI</a:t>
              </a:r>
              <a:endParaRPr kumimoji="0" lang="fr-FR" sz="1000" b="0" i="0" u="none" strike="noStrike" cap="none" normalizeH="0" baseline="0" dirty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1" name="Text Box 25"/>
            <p:cNvSpPr txBox="1">
              <a:spLocks noChangeArrowheads="1"/>
            </p:cNvSpPr>
            <p:nvPr/>
          </p:nvSpPr>
          <p:spPr bwMode="auto">
            <a:xfrm>
              <a:off x="8342975" y="2990079"/>
              <a:ext cx="340862" cy="165743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 dirty="0" smtClean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MISO</a:t>
              </a:r>
              <a:endParaRPr kumimoji="0" lang="fr-FR" sz="1000" b="0" i="0" u="none" strike="noStrike" cap="none" normalizeH="0" baseline="0" dirty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2" name="Text Box 24"/>
            <p:cNvSpPr txBox="1">
              <a:spLocks noChangeArrowheads="1"/>
            </p:cNvSpPr>
            <p:nvPr/>
          </p:nvSpPr>
          <p:spPr bwMode="auto">
            <a:xfrm>
              <a:off x="8342975" y="3382539"/>
              <a:ext cx="340862" cy="165743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SS</a:t>
              </a:r>
              <a:endParaRPr kumimoji="0" lang="fr-FR" sz="1000" b="0" i="0" u="none" strike="noStrike" cap="none" normalizeH="0" baseline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3" name="AutoShape 23"/>
            <p:cNvSpPr>
              <a:spLocks noChangeArrowheads="1"/>
            </p:cNvSpPr>
            <p:nvPr/>
          </p:nvSpPr>
          <p:spPr bwMode="auto">
            <a:xfrm>
              <a:off x="8018426" y="5261534"/>
              <a:ext cx="363185" cy="449138"/>
            </a:xfrm>
            <a:prstGeom prst="wedgeRoundRectCallout">
              <a:avLst>
                <a:gd name="adj1" fmla="val -1065"/>
                <a:gd name="adj2" fmla="val -76194"/>
                <a:gd name="adj3" fmla="val 16667"/>
              </a:avLst>
            </a:prstGeom>
            <a:noFill/>
            <a:ln w="12700">
              <a:solidFill>
                <a:srgbClr val="00FF00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1000" b="0" i="0" u="none" strike="noStrike" cap="none" normalizeH="0" baseline="0" dirty="0">
                <a:ln>
                  <a:noFill/>
                </a:ln>
                <a:solidFill>
                  <a:srgbClr val="00FF00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4" name="Text Box 22"/>
            <p:cNvSpPr txBox="1">
              <a:spLocks noChangeArrowheads="1"/>
            </p:cNvSpPr>
            <p:nvPr/>
          </p:nvSpPr>
          <p:spPr bwMode="auto">
            <a:xfrm>
              <a:off x="8229640" y="5095791"/>
              <a:ext cx="419852" cy="153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1" u="none" strike="noStrike" cap="none" normalizeH="0" baseline="0" dirty="0">
                  <a:ln>
                    <a:noFill/>
                  </a:ln>
                  <a:solidFill>
                    <a:srgbClr val="00FF00"/>
                  </a:solidFill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Serial</a:t>
              </a:r>
              <a:endParaRPr kumimoji="0" lang="fr-FR" sz="1000" b="0" i="0" u="none" strike="noStrike" cap="none" normalizeH="0" baseline="0" dirty="0">
                <a:ln>
                  <a:noFill/>
                </a:ln>
                <a:solidFill>
                  <a:srgbClr val="00FF00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5" name="AutoShape 21"/>
            <p:cNvSpPr>
              <a:spLocks noChangeArrowheads="1"/>
            </p:cNvSpPr>
            <p:nvPr/>
          </p:nvSpPr>
          <p:spPr bwMode="auto">
            <a:xfrm>
              <a:off x="8324321" y="2722033"/>
              <a:ext cx="390801" cy="874231"/>
            </a:xfrm>
            <a:prstGeom prst="wedgeRoundRectCallout">
              <a:avLst>
                <a:gd name="adj1" fmla="val -39694"/>
                <a:gd name="adj2" fmla="val -66898"/>
                <a:gd name="adj3" fmla="val 16667"/>
              </a:avLst>
            </a:prstGeom>
            <a:noFill/>
            <a:ln w="12700">
              <a:solidFill>
                <a:srgbClr val="00FF00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1000" b="0" i="0" u="none" strike="noStrike" cap="none" normalizeH="0" baseline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6" name="Text Box 20"/>
            <p:cNvSpPr txBox="1">
              <a:spLocks noChangeArrowheads="1"/>
            </p:cNvSpPr>
            <p:nvPr/>
          </p:nvSpPr>
          <p:spPr bwMode="auto">
            <a:xfrm>
              <a:off x="8431035" y="2468804"/>
              <a:ext cx="211214" cy="153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1" u="none" strike="noStrike" cap="none" normalizeH="0" baseline="0" dirty="0">
                  <a:ln>
                    <a:noFill/>
                  </a:ln>
                  <a:solidFill>
                    <a:srgbClr val="00FF00"/>
                  </a:solidFill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SPI</a:t>
              </a:r>
              <a:endParaRPr kumimoji="0" lang="fr-FR" sz="1000" b="0" i="0" u="none" strike="noStrike" cap="none" normalizeH="0" baseline="0" dirty="0">
                <a:ln>
                  <a:noFill/>
                </a:ln>
                <a:solidFill>
                  <a:srgbClr val="00FF00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7" name="AutoShape 19"/>
            <p:cNvSpPr>
              <a:spLocks noChangeArrowheads="1"/>
            </p:cNvSpPr>
            <p:nvPr/>
          </p:nvSpPr>
          <p:spPr bwMode="auto">
            <a:xfrm>
              <a:off x="2604371" y="5234912"/>
              <a:ext cx="335710" cy="449138"/>
            </a:xfrm>
            <a:prstGeom prst="wedgeRoundRectCallout">
              <a:avLst>
                <a:gd name="adj1" fmla="val -16750"/>
                <a:gd name="adj2" fmla="val -76769"/>
                <a:gd name="adj3" fmla="val 16667"/>
              </a:avLst>
            </a:prstGeom>
            <a:noFill/>
            <a:ln w="12700">
              <a:solidFill>
                <a:srgbClr val="00FF00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1000" b="0" i="0" u="none" strike="noStrike" cap="none" normalizeH="0" baseline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8" name="Text Box 18"/>
            <p:cNvSpPr txBox="1">
              <a:spLocks noChangeArrowheads="1"/>
            </p:cNvSpPr>
            <p:nvPr/>
          </p:nvSpPr>
          <p:spPr bwMode="auto">
            <a:xfrm>
              <a:off x="2624977" y="4960105"/>
              <a:ext cx="211214" cy="153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1" u="none" strike="noStrike" cap="none" normalizeH="0" baseline="0" dirty="0">
                  <a:ln>
                    <a:noFill/>
                  </a:ln>
                  <a:solidFill>
                    <a:srgbClr val="00FF00"/>
                  </a:solidFill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I2C</a:t>
              </a:r>
              <a:endParaRPr kumimoji="0" lang="fr-FR" sz="1000" b="0" i="0" u="none" strike="noStrike" cap="none" normalizeH="0" baseline="0" dirty="0">
                <a:ln>
                  <a:noFill/>
                </a:ln>
                <a:solidFill>
                  <a:srgbClr val="00FF00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1" name="Text Box 15"/>
            <p:cNvSpPr txBox="1">
              <a:spLocks noChangeArrowheads="1"/>
            </p:cNvSpPr>
            <p:nvPr/>
          </p:nvSpPr>
          <p:spPr bwMode="auto">
            <a:xfrm>
              <a:off x="8008123" y="2204302"/>
              <a:ext cx="291922" cy="165743"/>
            </a:xfrm>
            <a:prstGeom prst="rect">
              <a:avLst/>
            </a:prstGeom>
            <a:solidFill>
              <a:srgbClr val="00B0F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D19</a:t>
              </a:r>
              <a:endParaRPr kumimoji="0" lang="fr-FR" sz="1000" b="0" i="0" u="none" strike="noStrike" cap="none" normalizeH="0" baseline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2" name="Text Box 14"/>
            <p:cNvSpPr txBox="1">
              <a:spLocks noChangeArrowheads="1"/>
            </p:cNvSpPr>
            <p:nvPr/>
          </p:nvSpPr>
          <p:spPr bwMode="auto">
            <a:xfrm>
              <a:off x="8012416" y="2007643"/>
              <a:ext cx="291922" cy="165743"/>
            </a:xfrm>
            <a:prstGeom prst="rect">
              <a:avLst/>
            </a:prstGeom>
            <a:solidFill>
              <a:srgbClr val="00B0F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D18</a:t>
              </a:r>
              <a:endParaRPr kumimoji="0" lang="fr-FR" sz="1000" b="0" i="0" u="none" strike="noStrike" cap="none" normalizeH="0" baseline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3" name="Text Box 13"/>
            <p:cNvSpPr txBox="1">
              <a:spLocks noChangeArrowheads="1"/>
            </p:cNvSpPr>
            <p:nvPr/>
          </p:nvSpPr>
          <p:spPr bwMode="auto">
            <a:xfrm>
              <a:off x="7692160" y="2206020"/>
              <a:ext cx="291922" cy="16574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A5</a:t>
              </a:r>
              <a:endParaRPr kumimoji="0" lang="fr-FR" sz="1000" b="0" i="0" u="none" strike="noStrike" cap="none" normalizeH="0" baseline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4" name="Text Box 12"/>
            <p:cNvSpPr txBox="1">
              <a:spLocks noChangeArrowheads="1"/>
            </p:cNvSpPr>
            <p:nvPr/>
          </p:nvSpPr>
          <p:spPr bwMode="auto">
            <a:xfrm>
              <a:off x="7695595" y="2007643"/>
              <a:ext cx="291922" cy="16574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A4</a:t>
              </a:r>
              <a:endParaRPr kumimoji="0" lang="fr-FR" sz="1000" b="0" i="0" u="none" strike="noStrike" cap="none" normalizeH="0" baseline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5" name="Text Box 11"/>
            <p:cNvSpPr txBox="1">
              <a:spLocks noChangeArrowheads="1"/>
            </p:cNvSpPr>
            <p:nvPr/>
          </p:nvSpPr>
          <p:spPr bwMode="auto">
            <a:xfrm>
              <a:off x="8336106" y="2007643"/>
              <a:ext cx="291922" cy="165743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SDA</a:t>
              </a:r>
              <a:endParaRPr kumimoji="0" lang="fr-FR" sz="1000" b="0" i="0" u="none" strike="noStrike" cap="none" normalizeH="0" baseline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6" name="Text Box 10"/>
            <p:cNvSpPr txBox="1">
              <a:spLocks noChangeArrowheads="1"/>
            </p:cNvSpPr>
            <p:nvPr/>
          </p:nvSpPr>
          <p:spPr bwMode="auto">
            <a:xfrm>
              <a:off x="8336106" y="2204302"/>
              <a:ext cx="291922" cy="165743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SCL</a:t>
              </a:r>
              <a:endParaRPr kumimoji="0" lang="fr-FR" sz="1000" b="0" i="0" u="none" strike="noStrike" cap="none" normalizeH="0" baseline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7" name="AutoShape 9"/>
            <p:cNvSpPr>
              <a:spLocks noChangeArrowheads="1"/>
            </p:cNvSpPr>
            <p:nvPr/>
          </p:nvSpPr>
          <p:spPr bwMode="auto">
            <a:xfrm>
              <a:off x="8324085" y="1959552"/>
              <a:ext cx="320256" cy="449138"/>
            </a:xfrm>
            <a:prstGeom prst="wedgeRoundRectCallout">
              <a:avLst>
                <a:gd name="adj1" fmla="val -8356"/>
                <a:gd name="adj2" fmla="val -70447"/>
                <a:gd name="adj3" fmla="val 16667"/>
              </a:avLst>
            </a:prstGeom>
            <a:noFill/>
            <a:ln w="12700">
              <a:solidFill>
                <a:srgbClr val="00FF00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1000" b="0" i="0" u="none" strike="noStrike" cap="none" normalizeH="0" baseline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90" name="Text Box 8"/>
            <p:cNvSpPr txBox="1">
              <a:spLocks noChangeArrowheads="1"/>
            </p:cNvSpPr>
            <p:nvPr/>
          </p:nvSpPr>
          <p:spPr bwMode="auto">
            <a:xfrm>
              <a:off x="8510400" y="1778351"/>
              <a:ext cx="211214" cy="153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1" u="none" strike="noStrike" cap="none" normalizeH="0" baseline="0" dirty="0">
                  <a:ln>
                    <a:noFill/>
                  </a:ln>
                  <a:solidFill>
                    <a:srgbClr val="00FF00"/>
                  </a:solidFill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I2C</a:t>
              </a:r>
              <a:endParaRPr kumimoji="0" lang="fr-FR" sz="1000" b="0" i="0" u="none" strike="noStrike" cap="none" normalizeH="0" baseline="0" dirty="0">
                <a:ln>
                  <a:noFill/>
                </a:ln>
                <a:solidFill>
                  <a:srgbClr val="00FF00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91" name="Text Box 7"/>
            <p:cNvSpPr txBox="1">
              <a:spLocks noChangeArrowheads="1"/>
            </p:cNvSpPr>
            <p:nvPr/>
          </p:nvSpPr>
          <p:spPr bwMode="auto">
            <a:xfrm>
              <a:off x="7692644" y="2408690"/>
              <a:ext cx="437883" cy="165743"/>
            </a:xfrm>
            <a:prstGeom prst="rect">
              <a:avLst/>
            </a:prstGeom>
            <a:solidFill>
              <a:srgbClr val="B2A1C7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Vref</a:t>
              </a:r>
              <a:endParaRPr kumimoji="0" lang="fr-FR" sz="1000" b="0" i="0" u="none" strike="noStrike" cap="none" normalizeH="0" baseline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94" name="Text Box 6"/>
            <p:cNvSpPr txBox="1">
              <a:spLocks noChangeArrowheads="1"/>
            </p:cNvSpPr>
            <p:nvPr/>
          </p:nvSpPr>
          <p:spPr bwMode="auto">
            <a:xfrm>
              <a:off x="7692644" y="2620807"/>
              <a:ext cx="309094" cy="14599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>
              <a:defPPr>
                <a:defRPr lang="fr-FR"/>
              </a:defPPr>
              <a:lvl1pPr marR="0" lvl="0" indent="0" algn="ctr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sz="1000" b="1">
                  <a:latin typeface="Consolas" pitchFamily="49" charset="0"/>
                  <a:cs typeface="Arial" pitchFamily="34" charset="0"/>
                </a:defRPr>
              </a:lvl1pPr>
            </a:lstStyle>
            <a:p>
              <a:r>
                <a:rPr lang="fr-FR"/>
                <a:t>GND</a:t>
              </a:r>
            </a:p>
          </p:txBody>
        </p:sp>
        <p:sp>
          <p:nvSpPr>
            <p:cNvPr id="199" name="Text Box 5"/>
            <p:cNvSpPr txBox="1">
              <a:spLocks noChangeArrowheads="1"/>
            </p:cNvSpPr>
            <p:nvPr/>
          </p:nvSpPr>
          <p:spPr bwMode="auto">
            <a:xfrm>
              <a:off x="3292350" y="3713166"/>
              <a:ext cx="309094" cy="14599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>
              <a:defPPr>
                <a:defRPr lang="fr-FR"/>
              </a:defPPr>
              <a:lvl1pPr marR="0" lvl="0" indent="0" algn="ctr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sz="1000" b="1">
                  <a:latin typeface="Consolas" pitchFamily="49" charset="0"/>
                  <a:cs typeface="Arial" pitchFamily="34" charset="0"/>
                </a:defRPr>
              </a:lvl1pPr>
            </a:lstStyle>
            <a:p>
              <a:r>
                <a:rPr lang="fr-FR" dirty="0"/>
                <a:t>GND</a:t>
              </a:r>
            </a:p>
          </p:txBody>
        </p:sp>
        <p:sp>
          <p:nvSpPr>
            <p:cNvPr id="203" name="Text Box 3"/>
            <p:cNvSpPr txBox="1">
              <a:spLocks noChangeArrowheads="1"/>
            </p:cNvSpPr>
            <p:nvPr/>
          </p:nvSpPr>
          <p:spPr bwMode="auto">
            <a:xfrm>
              <a:off x="3238259" y="3525095"/>
              <a:ext cx="375206" cy="145991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 dirty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5V</a:t>
              </a:r>
              <a:endParaRPr kumimoji="0" lang="fr-FR" sz="1000" b="0" i="0" u="none" strike="noStrike" cap="none" normalizeH="0" baseline="0" dirty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4" name="Text Box 2"/>
            <p:cNvSpPr txBox="1">
              <a:spLocks noChangeArrowheads="1"/>
            </p:cNvSpPr>
            <p:nvPr/>
          </p:nvSpPr>
          <p:spPr bwMode="auto">
            <a:xfrm>
              <a:off x="3238259" y="3328436"/>
              <a:ext cx="375206" cy="145991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3.3V</a:t>
              </a:r>
              <a:endParaRPr kumimoji="0" lang="fr-FR" sz="1000" b="0" i="0" u="none" strike="noStrike" cap="none" normalizeH="0" baseline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5" name="Text Box 26"/>
            <p:cNvSpPr txBox="1">
              <a:spLocks noChangeArrowheads="1"/>
            </p:cNvSpPr>
            <p:nvPr/>
          </p:nvSpPr>
          <p:spPr bwMode="auto">
            <a:xfrm>
              <a:off x="7777645" y="1108508"/>
              <a:ext cx="441317" cy="153720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 dirty="0" smtClean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MOSI2</a:t>
              </a:r>
              <a:endParaRPr kumimoji="0" lang="fr-FR" sz="1000" b="0" i="0" u="none" strike="noStrike" cap="none" normalizeH="0" baseline="0" dirty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6" name="Text Box 3"/>
            <p:cNvSpPr txBox="1">
              <a:spLocks noChangeArrowheads="1"/>
            </p:cNvSpPr>
            <p:nvPr/>
          </p:nvSpPr>
          <p:spPr bwMode="auto">
            <a:xfrm>
              <a:off x="7850626" y="1358411"/>
              <a:ext cx="375206" cy="145991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 dirty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5V</a:t>
              </a:r>
              <a:endParaRPr kumimoji="0" lang="fr-FR" sz="1000" b="0" i="0" u="none" strike="noStrike" cap="none" normalizeH="0" baseline="0" dirty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7" name="Text Box 26"/>
            <p:cNvSpPr txBox="1">
              <a:spLocks noChangeArrowheads="1"/>
            </p:cNvSpPr>
            <p:nvPr/>
          </p:nvSpPr>
          <p:spPr bwMode="auto">
            <a:xfrm>
              <a:off x="8806241" y="1379880"/>
              <a:ext cx="441317" cy="153720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000" b="1" dirty="0" smtClean="0">
                  <a:latin typeface="Consolas" pitchFamily="49" charset="0"/>
                  <a:ea typeface="Calibri" pitchFamily="34" charset="0"/>
                  <a:cs typeface="Consolas" pitchFamily="49" charset="0"/>
                </a:rPr>
                <a:t>MISO</a:t>
              </a:r>
              <a:r>
                <a:rPr kumimoji="0" lang="fr-FR" sz="1000" b="1" i="0" u="none" strike="noStrike" cap="none" normalizeH="0" baseline="0" dirty="0" smtClean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2</a:t>
              </a:r>
              <a:endParaRPr kumimoji="0" lang="fr-FR" sz="1000" b="0" i="0" u="none" strike="noStrike" cap="none" normalizeH="0" baseline="0" dirty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8" name="Text Box 26"/>
            <p:cNvSpPr txBox="1">
              <a:spLocks noChangeArrowheads="1"/>
            </p:cNvSpPr>
            <p:nvPr/>
          </p:nvSpPr>
          <p:spPr bwMode="auto">
            <a:xfrm>
              <a:off x="8810534" y="1113660"/>
              <a:ext cx="441317" cy="153720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000" b="1" dirty="0" smtClean="0">
                  <a:latin typeface="Consolas" pitchFamily="49" charset="0"/>
                  <a:ea typeface="Calibri" pitchFamily="34" charset="0"/>
                  <a:cs typeface="Consolas" pitchFamily="49" charset="0"/>
                </a:rPr>
                <a:t>SCK</a:t>
              </a:r>
              <a:r>
                <a:rPr kumimoji="0" lang="fr-FR" sz="1000" b="1" i="0" u="none" strike="noStrike" cap="none" normalizeH="0" baseline="0" dirty="0" smtClean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2</a:t>
              </a:r>
              <a:endParaRPr kumimoji="0" lang="fr-FR" sz="1000" b="0" i="0" u="none" strike="noStrike" cap="none" normalizeH="0" baseline="0" dirty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9" name="Text Box 26"/>
            <p:cNvSpPr txBox="1">
              <a:spLocks noChangeArrowheads="1"/>
            </p:cNvSpPr>
            <p:nvPr/>
          </p:nvSpPr>
          <p:spPr bwMode="auto">
            <a:xfrm>
              <a:off x="8806241" y="868910"/>
              <a:ext cx="441317" cy="153720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000" b="1" dirty="0" smtClean="0">
                  <a:latin typeface="Consolas" pitchFamily="49" charset="0"/>
                  <a:cs typeface="Arial" pitchFamily="34" charset="0"/>
                </a:rPr>
                <a:t>RST2</a:t>
              </a:r>
              <a:endParaRPr kumimoji="0" lang="fr-FR" sz="1000" b="0" i="0" u="none" strike="noStrike" cap="none" normalizeH="0" baseline="0" dirty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0" name="Text Box 3"/>
            <p:cNvSpPr txBox="1">
              <a:spLocks noChangeArrowheads="1"/>
            </p:cNvSpPr>
            <p:nvPr/>
          </p:nvSpPr>
          <p:spPr bwMode="auto">
            <a:xfrm>
              <a:off x="7835171" y="862040"/>
              <a:ext cx="375206" cy="14599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non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fr-FR" sz="1000" b="1" dirty="0" smtClean="0">
                  <a:latin typeface="Consolas" pitchFamily="49" charset="0"/>
                  <a:ea typeface="Calibri" pitchFamily="34" charset="0"/>
                  <a:cs typeface="Consolas" pitchFamily="49" charset="0"/>
                </a:rPr>
                <a:t>GND</a:t>
              </a:r>
              <a:endParaRPr lang="fr-FR" sz="1000" b="1" dirty="0">
                <a:latin typeface="Consolas" pitchFamily="49" charset="0"/>
                <a:ea typeface="Calibri" pitchFamily="34" charset="0"/>
                <a:cs typeface="Consolas" pitchFamily="49" charset="0"/>
              </a:endParaRPr>
            </a:p>
          </p:txBody>
        </p:sp>
        <p:sp>
          <p:nvSpPr>
            <p:cNvPr id="211" name="Text Box 3"/>
            <p:cNvSpPr txBox="1">
              <a:spLocks noChangeArrowheads="1"/>
            </p:cNvSpPr>
            <p:nvPr/>
          </p:nvSpPr>
          <p:spPr bwMode="auto">
            <a:xfrm rot="5400000">
              <a:off x="2023309" y="3581600"/>
              <a:ext cx="375284" cy="153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fr-FR" sz="1000" b="1" dirty="0" smtClean="0">
                  <a:latin typeface="Consolas" pitchFamily="49" charset="0"/>
                  <a:cs typeface="Arial" pitchFamily="34" charset="0"/>
                </a:rPr>
                <a:t>GND</a:t>
              </a:r>
              <a:endParaRPr lang="fr-FR" sz="1000" b="1" dirty="0">
                <a:latin typeface="Consolas" pitchFamily="49" charset="0"/>
                <a:cs typeface="Arial" pitchFamily="34" charset="0"/>
              </a:endParaRPr>
            </a:p>
          </p:txBody>
        </p:sp>
        <p:sp>
          <p:nvSpPr>
            <p:cNvPr id="212" name="Text Box 26"/>
            <p:cNvSpPr txBox="1">
              <a:spLocks noChangeArrowheads="1"/>
            </p:cNvSpPr>
            <p:nvPr/>
          </p:nvSpPr>
          <p:spPr bwMode="auto">
            <a:xfrm rot="5400000">
              <a:off x="2283464" y="3588999"/>
              <a:ext cx="360685" cy="153688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000" b="1" dirty="0" smtClean="0">
                  <a:latin typeface="Consolas" pitchFamily="49" charset="0"/>
                  <a:ea typeface="Calibri" pitchFamily="34" charset="0"/>
                  <a:cs typeface="Consolas" pitchFamily="49" charset="0"/>
                </a:rPr>
                <a:t>MOSI</a:t>
              </a:r>
              <a:endParaRPr kumimoji="0" lang="fr-FR" sz="1000" b="0" i="0" u="none" strike="noStrike" cap="none" normalizeH="0" baseline="0" dirty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3" name="Text Box 3"/>
            <p:cNvSpPr txBox="1">
              <a:spLocks noChangeArrowheads="1"/>
            </p:cNvSpPr>
            <p:nvPr/>
          </p:nvSpPr>
          <p:spPr bwMode="auto">
            <a:xfrm rot="5400000">
              <a:off x="2509273" y="3585563"/>
              <a:ext cx="375284" cy="145961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 dirty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5V</a:t>
              </a:r>
              <a:endParaRPr kumimoji="0" lang="fr-FR" sz="1000" b="0" i="0" u="none" strike="noStrike" cap="none" normalizeH="0" baseline="0" dirty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4" name="Text Box 26"/>
            <p:cNvSpPr txBox="1">
              <a:spLocks noChangeArrowheads="1"/>
            </p:cNvSpPr>
            <p:nvPr/>
          </p:nvSpPr>
          <p:spPr bwMode="auto">
            <a:xfrm rot="16200000">
              <a:off x="2311090" y="2696977"/>
              <a:ext cx="310876" cy="153688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000" b="1" dirty="0" smtClean="0">
                  <a:latin typeface="Consolas" pitchFamily="49" charset="0"/>
                  <a:ea typeface="Calibri" pitchFamily="34" charset="0"/>
                  <a:cs typeface="Consolas" pitchFamily="49" charset="0"/>
                </a:rPr>
                <a:t>SCK</a:t>
              </a:r>
              <a:endParaRPr kumimoji="0" lang="fr-FR" sz="1000" b="0" i="0" u="none" strike="noStrike" cap="none" normalizeH="0" baseline="0" dirty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5" name="Text Box 26"/>
            <p:cNvSpPr txBox="1">
              <a:spLocks noChangeArrowheads="1"/>
            </p:cNvSpPr>
            <p:nvPr/>
          </p:nvSpPr>
          <p:spPr bwMode="auto">
            <a:xfrm rot="16200000">
              <a:off x="2535038" y="2696977"/>
              <a:ext cx="310876" cy="153688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000" b="1" dirty="0" smtClean="0">
                  <a:latin typeface="Consolas" pitchFamily="49" charset="0"/>
                  <a:ea typeface="Calibri" pitchFamily="34" charset="0"/>
                  <a:cs typeface="Consolas" pitchFamily="49" charset="0"/>
                </a:rPr>
                <a:t>MISO</a:t>
              </a:r>
              <a:endParaRPr kumimoji="0" lang="fr-FR" sz="1000" b="0" i="0" u="none" strike="noStrike" cap="none" normalizeH="0" baseline="0" dirty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6" name="Text Box 26"/>
            <p:cNvSpPr txBox="1">
              <a:spLocks noChangeArrowheads="1"/>
            </p:cNvSpPr>
            <p:nvPr/>
          </p:nvSpPr>
          <p:spPr bwMode="auto">
            <a:xfrm rot="16200000">
              <a:off x="2090476" y="2700313"/>
              <a:ext cx="304006" cy="153888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000" b="1" dirty="0" smtClean="0">
                  <a:latin typeface="Consolas" pitchFamily="49" charset="0"/>
                  <a:cs typeface="Arial" pitchFamily="34" charset="0"/>
                </a:rPr>
                <a:t>RST</a:t>
              </a:r>
              <a:endParaRPr kumimoji="0" lang="fr-FR" sz="1000" b="0" i="0" u="none" strike="noStrike" cap="none" normalizeH="0" baseline="0" dirty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217" name="Image 2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72712" y="833380"/>
              <a:ext cx="485775" cy="695325"/>
            </a:xfrm>
            <a:prstGeom prst="rect">
              <a:avLst/>
            </a:prstGeom>
          </p:spPr>
        </p:pic>
        <p:pic>
          <p:nvPicPr>
            <p:cNvPr id="218" name="Image 21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2223409" y="2872221"/>
              <a:ext cx="485775" cy="695325"/>
            </a:xfrm>
            <a:prstGeom prst="rect">
              <a:avLst/>
            </a:prstGeom>
          </p:spPr>
        </p:pic>
        <p:sp>
          <p:nvSpPr>
            <p:cNvPr id="219" name="Forme libre 218"/>
            <p:cNvSpPr/>
            <p:nvPr/>
          </p:nvSpPr>
          <p:spPr>
            <a:xfrm>
              <a:off x="7269973" y="1532409"/>
              <a:ext cx="1266669" cy="415721"/>
            </a:xfrm>
            <a:custGeom>
              <a:avLst/>
              <a:gdLst>
                <a:gd name="connsiteX0" fmla="*/ 0 w 1243584"/>
                <a:gd name="connsiteY0" fmla="*/ 396240 h 396240"/>
                <a:gd name="connsiteX1" fmla="*/ 859536 w 1243584"/>
                <a:gd name="connsiteY1" fmla="*/ 298704 h 396240"/>
                <a:gd name="connsiteX2" fmla="*/ 1243584 w 1243584"/>
                <a:gd name="connsiteY2" fmla="*/ 0 h 396240"/>
                <a:gd name="connsiteX0" fmla="*/ 0 w 1243584"/>
                <a:gd name="connsiteY0" fmla="*/ 396240 h 396240"/>
                <a:gd name="connsiteX1" fmla="*/ 835152 w 1243584"/>
                <a:gd name="connsiteY1" fmla="*/ 213360 h 396240"/>
                <a:gd name="connsiteX2" fmla="*/ 1243584 w 1243584"/>
                <a:gd name="connsiteY2" fmla="*/ 0 h 396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43584" h="396240">
                  <a:moveTo>
                    <a:pt x="0" y="396240"/>
                  </a:moveTo>
                  <a:cubicBezTo>
                    <a:pt x="326136" y="380492"/>
                    <a:pt x="627888" y="279400"/>
                    <a:pt x="835152" y="213360"/>
                  </a:cubicBezTo>
                  <a:cubicBezTo>
                    <a:pt x="1042416" y="147320"/>
                    <a:pt x="1176528" y="40640"/>
                    <a:pt x="1243584" y="0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0" name="Forme libre 219"/>
            <p:cNvSpPr/>
            <p:nvPr/>
          </p:nvSpPr>
          <p:spPr>
            <a:xfrm>
              <a:off x="2800805" y="3351622"/>
              <a:ext cx="2892781" cy="2236163"/>
            </a:xfrm>
            <a:custGeom>
              <a:avLst/>
              <a:gdLst>
                <a:gd name="connsiteX0" fmla="*/ 2998573 w 2998573"/>
                <a:gd name="connsiteY0" fmla="*/ 2553730 h 2553730"/>
                <a:gd name="connsiteX1" fmla="*/ 2784389 w 2998573"/>
                <a:gd name="connsiteY1" fmla="*/ 2001794 h 2553730"/>
                <a:gd name="connsiteX2" fmla="*/ 2059459 w 2998573"/>
                <a:gd name="connsiteY2" fmla="*/ 1375719 h 2553730"/>
                <a:gd name="connsiteX3" fmla="*/ 568410 w 2998573"/>
                <a:gd name="connsiteY3" fmla="*/ 1285102 h 2553730"/>
                <a:gd name="connsiteX4" fmla="*/ 247135 w 2998573"/>
                <a:gd name="connsiteY4" fmla="*/ 774357 h 2553730"/>
                <a:gd name="connsiteX5" fmla="*/ 238897 w 2998573"/>
                <a:gd name="connsiteY5" fmla="*/ 189470 h 2553730"/>
                <a:gd name="connsiteX6" fmla="*/ 0 w 2998573"/>
                <a:gd name="connsiteY6" fmla="*/ 0 h 2553730"/>
                <a:gd name="connsiteX0" fmla="*/ 2998573 w 2998573"/>
                <a:gd name="connsiteY0" fmla="*/ 2553730 h 2553730"/>
                <a:gd name="connsiteX1" fmla="*/ 2784389 w 2998573"/>
                <a:gd name="connsiteY1" fmla="*/ 2001794 h 2553730"/>
                <a:gd name="connsiteX2" fmla="*/ 2059459 w 2998573"/>
                <a:gd name="connsiteY2" fmla="*/ 1375719 h 2553730"/>
                <a:gd name="connsiteX3" fmla="*/ 747731 w 2998573"/>
                <a:gd name="connsiteY3" fmla="*/ 1191025 h 2553730"/>
                <a:gd name="connsiteX4" fmla="*/ 247135 w 2998573"/>
                <a:gd name="connsiteY4" fmla="*/ 774357 h 2553730"/>
                <a:gd name="connsiteX5" fmla="*/ 238897 w 2998573"/>
                <a:gd name="connsiteY5" fmla="*/ 189470 h 2553730"/>
                <a:gd name="connsiteX6" fmla="*/ 0 w 2998573"/>
                <a:gd name="connsiteY6" fmla="*/ 0 h 2553730"/>
                <a:gd name="connsiteX0" fmla="*/ 2998573 w 2998573"/>
                <a:gd name="connsiteY0" fmla="*/ 2553730 h 2553730"/>
                <a:gd name="connsiteX1" fmla="*/ 2784389 w 2998573"/>
                <a:gd name="connsiteY1" fmla="*/ 2001794 h 2553730"/>
                <a:gd name="connsiteX2" fmla="*/ 2059459 w 2998573"/>
                <a:gd name="connsiteY2" fmla="*/ 1375719 h 2553730"/>
                <a:gd name="connsiteX3" fmla="*/ 884356 w 2998573"/>
                <a:gd name="connsiteY3" fmla="*/ 1153394 h 2553730"/>
                <a:gd name="connsiteX4" fmla="*/ 247135 w 2998573"/>
                <a:gd name="connsiteY4" fmla="*/ 774357 h 2553730"/>
                <a:gd name="connsiteX5" fmla="*/ 238897 w 2998573"/>
                <a:gd name="connsiteY5" fmla="*/ 189470 h 2553730"/>
                <a:gd name="connsiteX6" fmla="*/ 0 w 2998573"/>
                <a:gd name="connsiteY6" fmla="*/ 0 h 2553730"/>
                <a:gd name="connsiteX0" fmla="*/ 2998573 w 2998573"/>
                <a:gd name="connsiteY0" fmla="*/ 2553730 h 2553730"/>
                <a:gd name="connsiteX1" fmla="*/ 2784389 w 2998573"/>
                <a:gd name="connsiteY1" fmla="*/ 2001794 h 2553730"/>
                <a:gd name="connsiteX2" fmla="*/ 2059459 w 2998573"/>
                <a:gd name="connsiteY2" fmla="*/ 1375719 h 2553730"/>
                <a:gd name="connsiteX3" fmla="*/ 884356 w 2998573"/>
                <a:gd name="connsiteY3" fmla="*/ 1153394 h 2553730"/>
                <a:gd name="connsiteX4" fmla="*/ 315447 w 2998573"/>
                <a:gd name="connsiteY4" fmla="*/ 793173 h 2553730"/>
                <a:gd name="connsiteX5" fmla="*/ 238897 w 2998573"/>
                <a:gd name="connsiteY5" fmla="*/ 189470 h 2553730"/>
                <a:gd name="connsiteX6" fmla="*/ 0 w 2998573"/>
                <a:gd name="connsiteY6" fmla="*/ 0 h 2553730"/>
                <a:gd name="connsiteX0" fmla="*/ 2998573 w 2998573"/>
                <a:gd name="connsiteY0" fmla="*/ 2553730 h 2553730"/>
                <a:gd name="connsiteX1" fmla="*/ 2784389 w 2998573"/>
                <a:gd name="connsiteY1" fmla="*/ 2001794 h 2553730"/>
                <a:gd name="connsiteX2" fmla="*/ 2059459 w 2998573"/>
                <a:gd name="connsiteY2" fmla="*/ 1375719 h 2553730"/>
                <a:gd name="connsiteX3" fmla="*/ 884356 w 2998573"/>
                <a:gd name="connsiteY3" fmla="*/ 1153394 h 2553730"/>
                <a:gd name="connsiteX4" fmla="*/ 315447 w 2998573"/>
                <a:gd name="connsiteY4" fmla="*/ 793173 h 2553730"/>
                <a:gd name="connsiteX5" fmla="*/ 274598 w 2998573"/>
                <a:gd name="connsiteY5" fmla="*/ 258245 h 2553730"/>
                <a:gd name="connsiteX6" fmla="*/ 238897 w 2998573"/>
                <a:gd name="connsiteY6" fmla="*/ 189470 h 2553730"/>
                <a:gd name="connsiteX7" fmla="*/ 0 w 2998573"/>
                <a:gd name="connsiteY7" fmla="*/ 0 h 2553730"/>
                <a:gd name="connsiteX0" fmla="*/ 2998573 w 2998573"/>
                <a:gd name="connsiteY0" fmla="*/ 2553730 h 2553730"/>
                <a:gd name="connsiteX1" fmla="*/ 2784389 w 2998573"/>
                <a:gd name="connsiteY1" fmla="*/ 2001794 h 2553730"/>
                <a:gd name="connsiteX2" fmla="*/ 2059459 w 2998573"/>
                <a:gd name="connsiteY2" fmla="*/ 1375719 h 2553730"/>
                <a:gd name="connsiteX3" fmla="*/ 884356 w 2998573"/>
                <a:gd name="connsiteY3" fmla="*/ 1153394 h 2553730"/>
                <a:gd name="connsiteX4" fmla="*/ 315447 w 2998573"/>
                <a:gd name="connsiteY4" fmla="*/ 793173 h 2553730"/>
                <a:gd name="connsiteX5" fmla="*/ 223363 w 2998573"/>
                <a:gd name="connsiteY5" fmla="*/ 239429 h 2553730"/>
                <a:gd name="connsiteX6" fmla="*/ 238897 w 2998573"/>
                <a:gd name="connsiteY6" fmla="*/ 189470 h 2553730"/>
                <a:gd name="connsiteX7" fmla="*/ 0 w 2998573"/>
                <a:gd name="connsiteY7" fmla="*/ 0 h 2553730"/>
                <a:gd name="connsiteX0" fmla="*/ 2998573 w 2998573"/>
                <a:gd name="connsiteY0" fmla="*/ 2553730 h 2553730"/>
                <a:gd name="connsiteX1" fmla="*/ 2784389 w 2998573"/>
                <a:gd name="connsiteY1" fmla="*/ 2001794 h 2553730"/>
                <a:gd name="connsiteX2" fmla="*/ 2059459 w 2998573"/>
                <a:gd name="connsiteY2" fmla="*/ 1375719 h 2553730"/>
                <a:gd name="connsiteX3" fmla="*/ 884356 w 2998573"/>
                <a:gd name="connsiteY3" fmla="*/ 1153394 h 2553730"/>
                <a:gd name="connsiteX4" fmla="*/ 315447 w 2998573"/>
                <a:gd name="connsiteY4" fmla="*/ 793173 h 2553730"/>
                <a:gd name="connsiteX5" fmla="*/ 223363 w 2998573"/>
                <a:gd name="connsiteY5" fmla="*/ 239429 h 2553730"/>
                <a:gd name="connsiteX6" fmla="*/ 0 w 2998573"/>
                <a:gd name="connsiteY6" fmla="*/ 0 h 255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98573" h="2553730">
                  <a:moveTo>
                    <a:pt x="2998573" y="2553730"/>
                  </a:moveTo>
                  <a:cubicBezTo>
                    <a:pt x="2969740" y="2375929"/>
                    <a:pt x="2940908" y="2198129"/>
                    <a:pt x="2784389" y="2001794"/>
                  </a:cubicBezTo>
                  <a:cubicBezTo>
                    <a:pt x="2627870" y="1805459"/>
                    <a:pt x="2376131" y="1517119"/>
                    <a:pt x="2059459" y="1375719"/>
                  </a:cubicBezTo>
                  <a:cubicBezTo>
                    <a:pt x="1742787" y="1234319"/>
                    <a:pt x="1175025" y="1250485"/>
                    <a:pt x="884356" y="1153394"/>
                  </a:cubicBezTo>
                  <a:cubicBezTo>
                    <a:pt x="593687" y="1056303"/>
                    <a:pt x="425613" y="945501"/>
                    <a:pt x="315447" y="793173"/>
                  </a:cubicBezTo>
                  <a:cubicBezTo>
                    <a:pt x="205281" y="640845"/>
                    <a:pt x="275937" y="371624"/>
                    <a:pt x="223363" y="239429"/>
                  </a:cubicBezTo>
                  <a:cubicBezTo>
                    <a:pt x="170789" y="107234"/>
                    <a:pt x="46534" y="49881"/>
                    <a:pt x="0" y="0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1" name="Text Box 30"/>
            <p:cNvSpPr txBox="1">
              <a:spLocks noChangeArrowheads="1"/>
            </p:cNvSpPr>
            <p:nvPr/>
          </p:nvSpPr>
          <p:spPr bwMode="auto">
            <a:xfrm rot="5400000">
              <a:off x="2320757" y="3938718"/>
              <a:ext cx="291922" cy="151643"/>
            </a:xfrm>
            <a:prstGeom prst="rect">
              <a:avLst/>
            </a:prstGeom>
            <a:solidFill>
              <a:srgbClr val="00B0F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8000" tIns="0" rIns="1800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 dirty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D11</a:t>
              </a:r>
              <a:endParaRPr kumimoji="0" lang="fr-FR" sz="1000" b="0" i="0" u="none" strike="noStrike" cap="none" normalizeH="0" baseline="0" dirty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2" name="Text Box 28"/>
            <p:cNvSpPr txBox="1">
              <a:spLocks noChangeArrowheads="1"/>
            </p:cNvSpPr>
            <p:nvPr/>
          </p:nvSpPr>
          <p:spPr bwMode="auto">
            <a:xfrm rot="16200000">
              <a:off x="2325834" y="2347996"/>
              <a:ext cx="291922" cy="153688"/>
            </a:xfrm>
            <a:prstGeom prst="rect">
              <a:avLst/>
            </a:prstGeom>
            <a:solidFill>
              <a:srgbClr val="00B0F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8000" tIns="0" rIns="1800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 dirty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D13</a:t>
              </a:r>
              <a:endParaRPr kumimoji="0" lang="fr-FR" sz="1000" b="0" i="0" u="none" strike="noStrike" cap="none" normalizeH="0" baseline="0" dirty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3" name="Text Box 28"/>
            <p:cNvSpPr txBox="1">
              <a:spLocks noChangeArrowheads="1"/>
            </p:cNvSpPr>
            <p:nvPr/>
          </p:nvSpPr>
          <p:spPr bwMode="auto">
            <a:xfrm rot="16200000">
              <a:off x="2546667" y="2339409"/>
              <a:ext cx="291922" cy="153688"/>
            </a:xfrm>
            <a:prstGeom prst="rect">
              <a:avLst/>
            </a:prstGeom>
            <a:solidFill>
              <a:srgbClr val="00B0F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8000" tIns="0" rIns="1800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 dirty="0" smtClean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D12</a:t>
              </a:r>
              <a:endParaRPr kumimoji="0" lang="fr-FR" sz="1000" b="0" i="0" u="none" strike="noStrike" cap="none" normalizeH="0" baseline="0" dirty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4" name="Text Box 3"/>
            <p:cNvSpPr txBox="1">
              <a:spLocks noChangeArrowheads="1"/>
            </p:cNvSpPr>
            <p:nvPr/>
          </p:nvSpPr>
          <p:spPr bwMode="auto">
            <a:xfrm rot="5400000">
              <a:off x="5762271" y="5980806"/>
              <a:ext cx="375284" cy="145961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 dirty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5V</a:t>
              </a:r>
              <a:endParaRPr kumimoji="0" lang="fr-FR" sz="1000" b="0" i="0" u="none" strike="noStrike" cap="none" normalizeH="0" baseline="0" dirty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5" name="Text Box 3"/>
            <p:cNvSpPr txBox="1">
              <a:spLocks noChangeArrowheads="1"/>
            </p:cNvSpPr>
            <p:nvPr/>
          </p:nvSpPr>
          <p:spPr bwMode="auto">
            <a:xfrm rot="5400000">
              <a:off x="5341043" y="5960658"/>
              <a:ext cx="375284" cy="153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fr-FR" sz="1000" b="1" dirty="0" smtClean="0">
                  <a:latin typeface="Consolas" pitchFamily="49" charset="0"/>
                  <a:cs typeface="Arial" pitchFamily="34" charset="0"/>
                </a:rPr>
                <a:t>GND</a:t>
              </a:r>
              <a:endParaRPr lang="fr-FR" sz="1000" b="1" dirty="0">
                <a:latin typeface="Consolas" pitchFamily="49" charset="0"/>
                <a:cs typeface="Arial" pitchFamily="34" charset="0"/>
              </a:endParaRPr>
            </a:p>
          </p:txBody>
        </p:sp>
        <p:sp>
          <p:nvSpPr>
            <p:cNvPr id="226" name="Text Box 3"/>
            <p:cNvSpPr txBox="1">
              <a:spLocks noChangeArrowheads="1"/>
            </p:cNvSpPr>
            <p:nvPr/>
          </p:nvSpPr>
          <p:spPr bwMode="auto">
            <a:xfrm>
              <a:off x="6628728" y="2208074"/>
              <a:ext cx="375206" cy="145991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 dirty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5V</a:t>
              </a:r>
              <a:endParaRPr kumimoji="0" lang="fr-FR" sz="1000" b="0" i="0" u="none" strike="noStrike" cap="none" normalizeH="0" baseline="0" dirty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7" name="Text Box 3"/>
            <p:cNvSpPr txBox="1">
              <a:spLocks noChangeArrowheads="1"/>
            </p:cNvSpPr>
            <p:nvPr/>
          </p:nvSpPr>
          <p:spPr bwMode="auto">
            <a:xfrm>
              <a:off x="6637549" y="1833084"/>
              <a:ext cx="375206" cy="145991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non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marR="0" lvl="0" indent="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000" b="1" dirty="0" smtClean="0">
                  <a:solidFill>
                    <a:schemeClr val="bg1"/>
                  </a:solidFill>
                  <a:latin typeface="Consolas" pitchFamily="49" charset="0"/>
                  <a:ea typeface="Calibri" pitchFamily="34" charset="0"/>
                  <a:cs typeface="Consolas" pitchFamily="49" charset="0"/>
                </a:rPr>
                <a:t>GND</a:t>
              </a:r>
              <a:endParaRPr lang="fr-FR" sz="1000" b="1" dirty="0">
                <a:solidFill>
                  <a:schemeClr val="bg1"/>
                </a:solidFill>
                <a:latin typeface="Consolas" pitchFamily="49" charset="0"/>
                <a:ea typeface="Calibri" pitchFamily="34" charset="0"/>
                <a:cs typeface="Consolas" pitchFamily="49" charset="0"/>
              </a:endParaRPr>
            </a:p>
          </p:txBody>
        </p:sp>
        <p:sp>
          <p:nvSpPr>
            <p:cNvPr id="202" name="Text Box 4"/>
            <p:cNvSpPr txBox="1">
              <a:spLocks noChangeArrowheads="1"/>
            </p:cNvSpPr>
            <p:nvPr/>
          </p:nvSpPr>
          <p:spPr bwMode="auto">
            <a:xfrm>
              <a:off x="3292350" y="3902096"/>
              <a:ext cx="309094" cy="14599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none" lIns="36000" tIns="0" rIns="3600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000" b="1" i="0" u="none" strike="noStrike" cap="none" normalizeH="0" baseline="0" dirty="0">
                  <a:ln>
                    <a:noFill/>
                  </a:ln>
                  <a:effectLst/>
                  <a:latin typeface="Consolas" pitchFamily="49" charset="0"/>
                  <a:ea typeface="Calibri" pitchFamily="34" charset="0"/>
                  <a:cs typeface="Consolas" pitchFamily="49" charset="0"/>
                </a:rPr>
                <a:t>GND</a:t>
              </a:r>
              <a:endParaRPr kumimoji="0" lang="fr-FR" sz="1000" b="0" i="0" u="none" strike="noStrike" cap="none" normalizeH="0" baseline="0" dirty="0">
                <a:ln>
                  <a:noFill/>
                </a:ln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2075838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fr-FR" sz="1000"/>
              <a:t>Systèmes Embarqués                                                    A. Oumnad</a:t>
            </a:r>
            <a:endParaRPr lang="fr-FR" sz="10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92AE5D-D970-4964-A73F-3F6FF56DDC90}" type="slidenum">
              <a:rPr lang="fr-FR" smtClean="0"/>
              <a:pPr/>
              <a:t>3</a:t>
            </a:fld>
            <a:endParaRPr lang="fr-FR" dirty="0"/>
          </a:p>
        </p:txBody>
      </p:sp>
      <p:sp>
        <p:nvSpPr>
          <p:cNvPr id="194646" name="Rectangle 86"/>
          <p:cNvSpPr>
            <a:spLocks noChangeArrowheads="1"/>
          </p:cNvSpPr>
          <p:nvPr/>
        </p:nvSpPr>
        <p:spPr bwMode="auto">
          <a:xfrm>
            <a:off x="0" y="0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95143" name="Rectangle 583"/>
          <p:cNvSpPr>
            <a:spLocks noChangeArrowheads="1"/>
          </p:cNvSpPr>
          <p:nvPr/>
        </p:nvSpPr>
        <p:spPr bwMode="auto">
          <a:xfrm>
            <a:off x="0" y="0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112" name="Image 1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4896" t="7798" r="4788" b="8766"/>
          <a:stretch/>
        </p:blipFill>
        <p:spPr>
          <a:xfrm rot="5400000">
            <a:off x="2758716" y="972145"/>
            <a:ext cx="5799320" cy="4113866"/>
          </a:xfrm>
          <a:prstGeom prst="rect">
            <a:avLst/>
          </a:prstGeom>
        </p:spPr>
      </p:pic>
      <p:sp>
        <p:nvSpPr>
          <p:cNvPr id="155" name="Text Box 41"/>
          <p:cNvSpPr txBox="1">
            <a:spLocks noChangeArrowheads="1"/>
          </p:cNvSpPr>
          <p:nvPr/>
        </p:nvSpPr>
        <p:spPr bwMode="auto">
          <a:xfrm>
            <a:off x="3270148" y="5314318"/>
            <a:ext cx="324000" cy="162000"/>
          </a:xfrm>
          <a:prstGeom prst="rect">
            <a:avLst/>
          </a:prstGeom>
          <a:solidFill>
            <a:srgbClr val="33CC33"/>
          </a:solidFill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200" b="1" i="0" u="none" strike="noStrike" cap="none" normalizeH="0" baseline="0" dirty="0">
                <a:ln>
                  <a:noFill/>
                </a:ln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SDA</a:t>
            </a:r>
            <a:endParaRPr kumimoji="0" lang="fr-FR" sz="1200" b="0" i="0" u="none" strike="noStrike" cap="none" normalizeH="0" baseline="0" dirty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56" name="Text Box 40"/>
          <p:cNvSpPr txBox="1">
            <a:spLocks noChangeArrowheads="1"/>
          </p:cNvSpPr>
          <p:nvPr/>
        </p:nvSpPr>
        <p:spPr bwMode="auto">
          <a:xfrm>
            <a:off x="3267608" y="5518283"/>
            <a:ext cx="324000" cy="162000"/>
          </a:xfrm>
          <a:prstGeom prst="rect">
            <a:avLst/>
          </a:prstGeom>
          <a:solidFill>
            <a:srgbClr val="33CC33"/>
          </a:solidFill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1200" b="1" dirty="0">
                <a:latin typeface="Consolas" pitchFamily="49" charset="0"/>
                <a:ea typeface="Calibri" pitchFamily="34" charset="0"/>
                <a:cs typeface="Consolas" pitchFamily="49" charset="0"/>
              </a:rPr>
              <a:t>SCL</a:t>
            </a:r>
          </a:p>
        </p:txBody>
      </p:sp>
      <p:sp>
        <p:nvSpPr>
          <p:cNvPr id="226" name="Text Box 3"/>
          <p:cNvSpPr txBox="1">
            <a:spLocks noChangeArrowheads="1"/>
          </p:cNvSpPr>
          <p:nvPr/>
        </p:nvSpPr>
        <p:spPr bwMode="auto">
          <a:xfrm>
            <a:off x="6628728" y="2208074"/>
            <a:ext cx="375206" cy="145991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36000" tIns="0" rIns="3600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000" b="1" i="0" u="none" strike="noStrike" cap="none" normalizeH="0" baseline="0" dirty="0">
                <a:ln>
                  <a:noFill/>
                </a:ln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5V</a:t>
            </a:r>
            <a:endParaRPr kumimoji="0" lang="fr-FR" sz="1000" b="0" i="0" u="none" strike="noStrike" cap="none" normalizeH="0" baseline="0" dirty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7" name="Text Box 3"/>
          <p:cNvSpPr txBox="1">
            <a:spLocks noChangeArrowheads="1"/>
          </p:cNvSpPr>
          <p:nvPr/>
        </p:nvSpPr>
        <p:spPr bwMode="auto">
          <a:xfrm>
            <a:off x="6637549" y="1833084"/>
            <a:ext cx="375206" cy="145991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none" lIns="36000" tIns="0" rIns="36000" bIns="0" numCol="1" anchor="ctr" anchorCtr="0" compatLnSpc="1">
            <a:prstTxWarp prst="textNoShape">
              <a:avLst/>
            </a:prstTxWarp>
          </a:bodyPr>
          <a:lstStyle/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1000" b="1" dirty="0" smtClean="0">
                <a:solidFill>
                  <a:schemeClr val="bg1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GND</a:t>
            </a:r>
            <a:endParaRPr lang="fr-FR" sz="1000" b="1" dirty="0">
              <a:solidFill>
                <a:schemeClr val="bg1"/>
              </a:solidFill>
              <a:latin typeface="Consolas" pitchFamily="49" charset="0"/>
              <a:ea typeface="Calibri" pitchFamily="34" charset="0"/>
              <a:cs typeface="Consolas" pitchFamily="49" charset="0"/>
            </a:endParaRPr>
          </a:p>
        </p:txBody>
      </p:sp>
      <p:sp>
        <p:nvSpPr>
          <p:cNvPr id="92" name="Text Box 41"/>
          <p:cNvSpPr txBox="1">
            <a:spLocks noChangeArrowheads="1"/>
          </p:cNvSpPr>
          <p:nvPr/>
        </p:nvSpPr>
        <p:spPr bwMode="auto">
          <a:xfrm>
            <a:off x="7697368" y="2022478"/>
            <a:ext cx="324000" cy="162000"/>
          </a:xfrm>
          <a:prstGeom prst="rect">
            <a:avLst/>
          </a:prstGeom>
          <a:solidFill>
            <a:srgbClr val="33CC33"/>
          </a:solidFill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200" b="1" i="0" u="none" strike="noStrike" cap="none" normalizeH="0" baseline="0" dirty="0">
                <a:ln>
                  <a:noFill/>
                </a:ln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SDA</a:t>
            </a:r>
            <a:endParaRPr kumimoji="0" lang="fr-FR" sz="1200" b="0" i="0" u="none" strike="noStrike" cap="none" normalizeH="0" baseline="0" dirty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93" name="Text Box 40"/>
          <p:cNvSpPr txBox="1">
            <a:spLocks noChangeArrowheads="1"/>
          </p:cNvSpPr>
          <p:nvPr/>
        </p:nvSpPr>
        <p:spPr bwMode="auto">
          <a:xfrm>
            <a:off x="7694828" y="2226443"/>
            <a:ext cx="324000" cy="162000"/>
          </a:xfrm>
          <a:prstGeom prst="rect">
            <a:avLst/>
          </a:prstGeom>
          <a:solidFill>
            <a:srgbClr val="33CC33"/>
          </a:solidFill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1200" b="1" dirty="0">
                <a:latin typeface="Consolas" pitchFamily="49" charset="0"/>
                <a:ea typeface="Calibri" pitchFamily="34" charset="0"/>
                <a:cs typeface="Consolas" pitchFamily="49" charset="0"/>
              </a:rPr>
              <a:t>SCL</a:t>
            </a:r>
          </a:p>
        </p:txBody>
      </p:sp>
    </p:spTree>
    <p:extLst>
      <p:ext uri="{BB962C8B-B14F-4D97-AF65-F5344CB8AC3E}">
        <p14:creationId xmlns:p14="http://schemas.microsoft.com/office/powerpoint/2010/main" xmlns="" val="2075838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0805" y="1233529"/>
            <a:ext cx="2781541" cy="3421677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31632" y="1618893"/>
            <a:ext cx="5295180" cy="3959352"/>
          </a:xfrm>
          <a:prstGeom prst="rect">
            <a:avLst/>
          </a:prstGeom>
        </p:spPr>
      </p:pic>
      <p:sp>
        <p:nvSpPr>
          <p:cNvPr id="11" name="ZoneTexte 10"/>
          <p:cNvSpPr txBox="1"/>
          <p:nvPr/>
        </p:nvSpPr>
        <p:spPr>
          <a:xfrm>
            <a:off x="8273072" y="1233529"/>
            <a:ext cx="992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 smtClean="0"/>
              <a:t>Terminal</a:t>
            </a:r>
            <a:endParaRPr lang="fr-FR" i="1" dirty="0"/>
          </a:p>
        </p:txBody>
      </p:sp>
      <p:sp>
        <p:nvSpPr>
          <p:cNvPr id="12" name="ZoneTexte 11"/>
          <p:cNvSpPr txBox="1"/>
          <p:nvPr/>
        </p:nvSpPr>
        <p:spPr>
          <a:xfrm>
            <a:off x="6197895" y="5678916"/>
            <a:ext cx="2984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 smtClean="0"/>
              <a:t>Câble de communication série</a:t>
            </a:r>
            <a:endParaRPr lang="fr-FR" i="1" dirty="0"/>
          </a:p>
        </p:txBody>
      </p:sp>
      <p:cxnSp>
        <p:nvCxnSpPr>
          <p:cNvPr id="14" name="Connecteur droit 13"/>
          <p:cNvCxnSpPr/>
          <p:nvPr/>
        </p:nvCxnSpPr>
        <p:spPr>
          <a:xfrm flipH="1" flipV="1">
            <a:off x="9656064" y="3840480"/>
            <a:ext cx="158937" cy="548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Image 12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1283349" flipV="1">
            <a:off x="8992256" y="3829683"/>
            <a:ext cx="231987" cy="117540"/>
          </a:xfrm>
          <a:prstGeom prst="rect">
            <a:avLst/>
          </a:prstGeom>
        </p:spPr>
      </p:pic>
      <p:sp>
        <p:nvSpPr>
          <p:cNvPr id="7" name="Forme libre 6"/>
          <p:cNvSpPr/>
          <p:nvPr/>
        </p:nvSpPr>
        <p:spPr bwMode="auto">
          <a:xfrm>
            <a:off x="5726430" y="3924554"/>
            <a:ext cx="3429330" cy="1867800"/>
          </a:xfrm>
          <a:custGeom>
            <a:avLst/>
            <a:gdLst>
              <a:gd name="connsiteX0" fmla="*/ 3493008 w 3493008"/>
              <a:gd name="connsiteY0" fmla="*/ 0 h 1892808"/>
              <a:gd name="connsiteX1" fmla="*/ 2331720 w 3493008"/>
              <a:gd name="connsiteY1" fmla="*/ 1399032 h 1892808"/>
              <a:gd name="connsiteX2" fmla="*/ 0 w 3493008"/>
              <a:gd name="connsiteY2" fmla="*/ 1892808 h 1892808"/>
              <a:gd name="connsiteX0" fmla="*/ 3442208 w 3442208"/>
              <a:gd name="connsiteY0" fmla="*/ 0 h 1852168"/>
              <a:gd name="connsiteX1" fmla="*/ 2331720 w 3442208"/>
              <a:gd name="connsiteY1" fmla="*/ 1358392 h 1852168"/>
              <a:gd name="connsiteX2" fmla="*/ 0 w 3442208"/>
              <a:gd name="connsiteY2" fmla="*/ 1852168 h 1852168"/>
              <a:gd name="connsiteX0" fmla="*/ 3480156 w 3480156"/>
              <a:gd name="connsiteY0" fmla="*/ 0 h 1830388"/>
              <a:gd name="connsiteX1" fmla="*/ 2331720 w 3480156"/>
              <a:gd name="connsiteY1" fmla="*/ 1336612 h 1830388"/>
              <a:gd name="connsiteX2" fmla="*/ 0 w 3480156"/>
              <a:gd name="connsiteY2" fmla="*/ 1830388 h 1830388"/>
              <a:gd name="connsiteX0" fmla="*/ 3415644 w 3415644"/>
              <a:gd name="connsiteY0" fmla="*/ 0 h 1779568"/>
              <a:gd name="connsiteX1" fmla="*/ 2267208 w 3415644"/>
              <a:gd name="connsiteY1" fmla="*/ 1336612 h 1779568"/>
              <a:gd name="connsiteX2" fmla="*/ 0 w 3415644"/>
              <a:gd name="connsiteY2" fmla="*/ 1779568 h 1779568"/>
              <a:gd name="connsiteX0" fmla="*/ 3415644 w 3415644"/>
              <a:gd name="connsiteY0" fmla="*/ 0 h 1779568"/>
              <a:gd name="connsiteX1" fmla="*/ 2229261 w 3415644"/>
              <a:gd name="connsiteY1" fmla="*/ 1307572 h 1779568"/>
              <a:gd name="connsiteX2" fmla="*/ 0 w 3415644"/>
              <a:gd name="connsiteY2" fmla="*/ 1779568 h 1779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15644" h="1779568">
                <a:moveTo>
                  <a:pt x="3415644" y="0"/>
                </a:moveTo>
                <a:cubicBezTo>
                  <a:pt x="3126084" y="541782"/>
                  <a:pt x="2811429" y="992104"/>
                  <a:pt x="2229261" y="1307572"/>
                </a:cubicBezTo>
                <a:cubicBezTo>
                  <a:pt x="1647093" y="1623040"/>
                  <a:pt x="874776" y="1690414"/>
                  <a:pt x="0" y="1779568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rme libre 7"/>
          <p:cNvSpPr/>
          <p:nvPr/>
        </p:nvSpPr>
        <p:spPr bwMode="auto">
          <a:xfrm>
            <a:off x="5715000" y="3236976"/>
            <a:ext cx="3323844" cy="2132596"/>
          </a:xfrm>
          <a:custGeom>
            <a:avLst/>
            <a:gdLst>
              <a:gd name="connsiteX0" fmla="*/ 3367142 w 3367142"/>
              <a:gd name="connsiteY0" fmla="*/ 566928 h 2355143"/>
              <a:gd name="connsiteX1" fmla="*/ 2855078 w 3367142"/>
              <a:gd name="connsiteY1" fmla="*/ 1417320 h 2355143"/>
              <a:gd name="connsiteX2" fmla="*/ 1931534 w 3367142"/>
              <a:gd name="connsiteY2" fmla="*/ 2002536 h 2355143"/>
              <a:gd name="connsiteX3" fmla="*/ 505070 w 3367142"/>
              <a:gd name="connsiteY3" fmla="*/ 2249424 h 2355143"/>
              <a:gd name="connsiteX4" fmla="*/ 431918 w 3367142"/>
              <a:gd name="connsiteY4" fmla="*/ 228600 h 2355143"/>
              <a:gd name="connsiteX5" fmla="*/ 11294 w 3367142"/>
              <a:gd name="connsiteY5" fmla="*/ 0 h 2355143"/>
              <a:gd name="connsiteX0" fmla="*/ 3366843 w 3366843"/>
              <a:gd name="connsiteY0" fmla="*/ 566928 h 2145658"/>
              <a:gd name="connsiteX1" fmla="*/ 2854779 w 3366843"/>
              <a:gd name="connsiteY1" fmla="*/ 1417320 h 2145658"/>
              <a:gd name="connsiteX2" fmla="*/ 1931235 w 3366843"/>
              <a:gd name="connsiteY2" fmla="*/ 2002536 h 2145658"/>
              <a:gd name="connsiteX3" fmla="*/ 422475 w 3366843"/>
              <a:gd name="connsiteY3" fmla="*/ 1984248 h 2145658"/>
              <a:gd name="connsiteX4" fmla="*/ 431619 w 3366843"/>
              <a:gd name="connsiteY4" fmla="*/ 228600 h 2145658"/>
              <a:gd name="connsiteX5" fmla="*/ 10995 w 3366843"/>
              <a:gd name="connsiteY5" fmla="*/ 0 h 2145658"/>
              <a:gd name="connsiteX0" fmla="*/ 3372672 w 3372672"/>
              <a:gd name="connsiteY0" fmla="*/ 566928 h 2131978"/>
              <a:gd name="connsiteX1" fmla="*/ 2860608 w 3372672"/>
              <a:gd name="connsiteY1" fmla="*/ 1417320 h 2131978"/>
              <a:gd name="connsiteX2" fmla="*/ 1937064 w 3372672"/>
              <a:gd name="connsiteY2" fmla="*/ 2002536 h 2131978"/>
              <a:gd name="connsiteX3" fmla="*/ 428304 w 3372672"/>
              <a:gd name="connsiteY3" fmla="*/ 1984248 h 2131978"/>
              <a:gd name="connsiteX4" fmla="*/ 263712 w 3372672"/>
              <a:gd name="connsiteY4" fmla="*/ 420624 h 2131978"/>
              <a:gd name="connsiteX5" fmla="*/ 16824 w 3372672"/>
              <a:gd name="connsiteY5" fmla="*/ 0 h 2131978"/>
              <a:gd name="connsiteX0" fmla="*/ 3355848 w 3355848"/>
              <a:gd name="connsiteY0" fmla="*/ 566928 h 2131978"/>
              <a:gd name="connsiteX1" fmla="*/ 2843784 w 3355848"/>
              <a:gd name="connsiteY1" fmla="*/ 1417320 h 2131978"/>
              <a:gd name="connsiteX2" fmla="*/ 1920240 w 3355848"/>
              <a:gd name="connsiteY2" fmla="*/ 2002536 h 2131978"/>
              <a:gd name="connsiteX3" fmla="*/ 411480 w 3355848"/>
              <a:gd name="connsiteY3" fmla="*/ 1984248 h 2131978"/>
              <a:gd name="connsiteX4" fmla="*/ 246888 w 3355848"/>
              <a:gd name="connsiteY4" fmla="*/ 420624 h 2131978"/>
              <a:gd name="connsiteX5" fmla="*/ 182880 w 3355848"/>
              <a:gd name="connsiteY5" fmla="*/ 54864 h 2131978"/>
              <a:gd name="connsiteX6" fmla="*/ 0 w 3355848"/>
              <a:gd name="connsiteY6" fmla="*/ 0 h 2131978"/>
              <a:gd name="connsiteX0" fmla="*/ 3374136 w 3374136"/>
              <a:gd name="connsiteY0" fmla="*/ 603504 h 2131978"/>
              <a:gd name="connsiteX1" fmla="*/ 2843784 w 3374136"/>
              <a:gd name="connsiteY1" fmla="*/ 1417320 h 2131978"/>
              <a:gd name="connsiteX2" fmla="*/ 1920240 w 3374136"/>
              <a:gd name="connsiteY2" fmla="*/ 2002536 h 2131978"/>
              <a:gd name="connsiteX3" fmla="*/ 411480 w 3374136"/>
              <a:gd name="connsiteY3" fmla="*/ 1984248 h 2131978"/>
              <a:gd name="connsiteX4" fmla="*/ 246888 w 3374136"/>
              <a:gd name="connsiteY4" fmla="*/ 420624 h 2131978"/>
              <a:gd name="connsiteX5" fmla="*/ 182880 w 3374136"/>
              <a:gd name="connsiteY5" fmla="*/ 54864 h 2131978"/>
              <a:gd name="connsiteX6" fmla="*/ 0 w 3374136"/>
              <a:gd name="connsiteY6" fmla="*/ 0 h 2131978"/>
              <a:gd name="connsiteX0" fmla="*/ 3396996 w 3396996"/>
              <a:gd name="connsiteY0" fmla="*/ 654304 h 2131978"/>
              <a:gd name="connsiteX1" fmla="*/ 2843784 w 3396996"/>
              <a:gd name="connsiteY1" fmla="*/ 1417320 h 2131978"/>
              <a:gd name="connsiteX2" fmla="*/ 1920240 w 3396996"/>
              <a:gd name="connsiteY2" fmla="*/ 2002536 h 2131978"/>
              <a:gd name="connsiteX3" fmla="*/ 411480 w 3396996"/>
              <a:gd name="connsiteY3" fmla="*/ 1984248 h 2131978"/>
              <a:gd name="connsiteX4" fmla="*/ 246888 w 3396996"/>
              <a:gd name="connsiteY4" fmla="*/ 420624 h 2131978"/>
              <a:gd name="connsiteX5" fmla="*/ 182880 w 3396996"/>
              <a:gd name="connsiteY5" fmla="*/ 54864 h 2131978"/>
              <a:gd name="connsiteX6" fmla="*/ 0 w 3396996"/>
              <a:gd name="connsiteY6" fmla="*/ 0 h 2131978"/>
              <a:gd name="connsiteX0" fmla="*/ 3396996 w 3396996"/>
              <a:gd name="connsiteY0" fmla="*/ 654304 h 2132596"/>
              <a:gd name="connsiteX1" fmla="*/ 2825093 w 3396996"/>
              <a:gd name="connsiteY1" fmla="*/ 1405128 h 2132596"/>
              <a:gd name="connsiteX2" fmla="*/ 1920240 w 3396996"/>
              <a:gd name="connsiteY2" fmla="*/ 2002536 h 2132596"/>
              <a:gd name="connsiteX3" fmla="*/ 411480 w 3396996"/>
              <a:gd name="connsiteY3" fmla="*/ 1984248 h 2132596"/>
              <a:gd name="connsiteX4" fmla="*/ 246888 w 3396996"/>
              <a:gd name="connsiteY4" fmla="*/ 420624 h 2132596"/>
              <a:gd name="connsiteX5" fmla="*/ 182880 w 3396996"/>
              <a:gd name="connsiteY5" fmla="*/ 54864 h 2132596"/>
              <a:gd name="connsiteX6" fmla="*/ 0 w 3396996"/>
              <a:gd name="connsiteY6" fmla="*/ 0 h 213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96996" h="2132596">
                <a:moveTo>
                  <a:pt x="3396996" y="654304"/>
                </a:moveTo>
                <a:cubicBezTo>
                  <a:pt x="3260598" y="959866"/>
                  <a:pt x="3071219" y="1180423"/>
                  <a:pt x="2825093" y="1405128"/>
                </a:cubicBezTo>
                <a:cubicBezTo>
                  <a:pt x="2578967" y="1629833"/>
                  <a:pt x="2322509" y="1906016"/>
                  <a:pt x="1920240" y="2002536"/>
                </a:cubicBezTo>
                <a:cubicBezTo>
                  <a:pt x="1517971" y="2099056"/>
                  <a:pt x="690372" y="2247900"/>
                  <a:pt x="411480" y="1984248"/>
                </a:cubicBezTo>
                <a:cubicBezTo>
                  <a:pt x="132588" y="1720596"/>
                  <a:pt x="284988" y="742188"/>
                  <a:pt x="246888" y="420624"/>
                </a:cubicBezTo>
                <a:cubicBezTo>
                  <a:pt x="208788" y="99060"/>
                  <a:pt x="224028" y="124968"/>
                  <a:pt x="182880" y="54864"/>
                </a:cubicBezTo>
                <a:cubicBezTo>
                  <a:pt x="141732" y="-15240"/>
                  <a:pt x="13716" y="30480"/>
                  <a:pt x="0" y="0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9" name="Connecteur droit 8"/>
          <p:cNvCxnSpPr/>
          <p:nvPr/>
        </p:nvCxnSpPr>
        <p:spPr>
          <a:xfrm>
            <a:off x="4620768" y="3002280"/>
            <a:ext cx="0" cy="259200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/>
          <p:cNvCxnSpPr/>
          <p:nvPr/>
        </p:nvCxnSpPr>
        <p:spPr>
          <a:xfrm>
            <a:off x="4456176" y="2999780"/>
            <a:ext cx="0" cy="2772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orme libre 16"/>
          <p:cNvSpPr/>
          <p:nvPr/>
        </p:nvSpPr>
        <p:spPr bwMode="auto">
          <a:xfrm>
            <a:off x="3535680" y="5381876"/>
            <a:ext cx="2179320" cy="284894"/>
          </a:xfrm>
          <a:custGeom>
            <a:avLst/>
            <a:gdLst>
              <a:gd name="connsiteX0" fmla="*/ 2133600 w 2133600"/>
              <a:gd name="connsiteY0" fmla="*/ 272165 h 281697"/>
              <a:gd name="connsiteX1" fmla="*/ 1432560 w 2133600"/>
              <a:gd name="connsiteY1" fmla="*/ 272165 h 281697"/>
              <a:gd name="connsiteX2" fmla="*/ 838200 w 2133600"/>
              <a:gd name="connsiteY2" fmla="*/ 173105 h 281697"/>
              <a:gd name="connsiteX3" fmla="*/ 281940 w 2133600"/>
              <a:gd name="connsiteY3" fmla="*/ 20705 h 281697"/>
              <a:gd name="connsiteX4" fmla="*/ 0 w 2133600"/>
              <a:gd name="connsiteY4" fmla="*/ 5465 h 281697"/>
              <a:gd name="connsiteX0" fmla="*/ 2133600 w 2133600"/>
              <a:gd name="connsiteY0" fmla="*/ 272165 h 284894"/>
              <a:gd name="connsiteX1" fmla="*/ 1935480 w 2133600"/>
              <a:gd name="connsiteY1" fmla="*/ 283595 h 284894"/>
              <a:gd name="connsiteX2" fmla="*/ 1432560 w 2133600"/>
              <a:gd name="connsiteY2" fmla="*/ 272165 h 284894"/>
              <a:gd name="connsiteX3" fmla="*/ 838200 w 2133600"/>
              <a:gd name="connsiteY3" fmla="*/ 173105 h 284894"/>
              <a:gd name="connsiteX4" fmla="*/ 281940 w 2133600"/>
              <a:gd name="connsiteY4" fmla="*/ 20705 h 284894"/>
              <a:gd name="connsiteX5" fmla="*/ 0 w 2133600"/>
              <a:gd name="connsiteY5" fmla="*/ 5465 h 284894"/>
              <a:gd name="connsiteX0" fmla="*/ 2179320 w 2179320"/>
              <a:gd name="connsiteY0" fmla="*/ 241685 h 284894"/>
              <a:gd name="connsiteX1" fmla="*/ 1935480 w 2179320"/>
              <a:gd name="connsiteY1" fmla="*/ 283595 h 284894"/>
              <a:gd name="connsiteX2" fmla="*/ 1432560 w 2179320"/>
              <a:gd name="connsiteY2" fmla="*/ 272165 h 284894"/>
              <a:gd name="connsiteX3" fmla="*/ 838200 w 2179320"/>
              <a:gd name="connsiteY3" fmla="*/ 173105 h 284894"/>
              <a:gd name="connsiteX4" fmla="*/ 281940 w 2179320"/>
              <a:gd name="connsiteY4" fmla="*/ 20705 h 284894"/>
              <a:gd name="connsiteX5" fmla="*/ 0 w 2179320"/>
              <a:gd name="connsiteY5" fmla="*/ 5465 h 284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79320" h="284894">
                <a:moveTo>
                  <a:pt x="2179320" y="241685"/>
                </a:moveTo>
                <a:cubicBezTo>
                  <a:pt x="2147570" y="242955"/>
                  <a:pt x="2052320" y="283595"/>
                  <a:pt x="1935480" y="283595"/>
                </a:cubicBezTo>
                <a:cubicBezTo>
                  <a:pt x="1818640" y="283595"/>
                  <a:pt x="1615440" y="290580"/>
                  <a:pt x="1432560" y="272165"/>
                </a:cubicBezTo>
                <a:cubicBezTo>
                  <a:pt x="1249680" y="253750"/>
                  <a:pt x="1029970" y="215015"/>
                  <a:pt x="838200" y="173105"/>
                </a:cubicBezTo>
                <a:cubicBezTo>
                  <a:pt x="646430" y="131195"/>
                  <a:pt x="421640" y="48645"/>
                  <a:pt x="281940" y="20705"/>
                </a:cubicBezTo>
                <a:cubicBezTo>
                  <a:pt x="142240" y="-7235"/>
                  <a:pt x="71120" y="-885"/>
                  <a:pt x="0" y="5465"/>
                </a:cubicBezTo>
              </a:path>
            </a:pathLst>
          </a:custGeom>
          <a:noFill/>
          <a:ln w="38100">
            <a:solidFill>
              <a:srgbClr val="0000FF"/>
            </a:solidFill>
            <a:round/>
            <a:headEnd type="oval" w="med" len="med"/>
            <a:tailEnd type="oval" w="med" len="med"/>
          </a:ln>
        </p:spPr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Forme libre 17"/>
          <p:cNvSpPr/>
          <p:nvPr/>
        </p:nvSpPr>
        <p:spPr bwMode="auto">
          <a:xfrm>
            <a:off x="3528060" y="5572376"/>
            <a:ext cx="2198370" cy="284894"/>
          </a:xfrm>
          <a:custGeom>
            <a:avLst/>
            <a:gdLst>
              <a:gd name="connsiteX0" fmla="*/ 2133600 w 2133600"/>
              <a:gd name="connsiteY0" fmla="*/ 272165 h 281697"/>
              <a:gd name="connsiteX1" fmla="*/ 1432560 w 2133600"/>
              <a:gd name="connsiteY1" fmla="*/ 272165 h 281697"/>
              <a:gd name="connsiteX2" fmla="*/ 838200 w 2133600"/>
              <a:gd name="connsiteY2" fmla="*/ 173105 h 281697"/>
              <a:gd name="connsiteX3" fmla="*/ 281940 w 2133600"/>
              <a:gd name="connsiteY3" fmla="*/ 20705 h 281697"/>
              <a:gd name="connsiteX4" fmla="*/ 0 w 2133600"/>
              <a:gd name="connsiteY4" fmla="*/ 5465 h 281697"/>
              <a:gd name="connsiteX0" fmla="*/ 2133600 w 2133600"/>
              <a:gd name="connsiteY0" fmla="*/ 272165 h 284894"/>
              <a:gd name="connsiteX1" fmla="*/ 1939290 w 2133600"/>
              <a:gd name="connsiteY1" fmla="*/ 283595 h 284894"/>
              <a:gd name="connsiteX2" fmla="*/ 1432560 w 2133600"/>
              <a:gd name="connsiteY2" fmla="*/ 272165 h 284894"/>
              <a:gd name="connsiteX3" fmla="*/ 838200 w 2133600"/>
              <a:gd name="connsiteY3" fmla="*/ 173105 h 284894"/>
              <a:gd name="connsiteX4" fmla="*/ 281940 w 2133600"/>
              <a:gd name="connsiteY4" fmla="*/ 20705 h 284894"/>
              <a:gd name="connsiteX5" fmla="*/ 0 w 2133600"/>
              <a:gd name="connsiteY5" fmla="*/ 5465 h 284894"/>
              <a:gd name="connsiteX0" fmla="*/ 2198370 w 2198370"/>
              <a:gd name="connsiteY0" fmla="*/ 226445 h 284894"/>
              <a:gd name="connsiteX1" fmla="*/ 1939290 w 2198370"/>
              <a:gd name="connsiteY1" fmla="*/ 283595 h 284894"/>
              <a:gd name="connsiteX2" fmla="*/ 1432560 w 2198370"/>
              <a:gd name="connsiteY2" fmla="*/ 272165 h 284894"/>
              <a:gd name="connsiteX3" fmla="*/ 838200 w 2198370"/>
              <a:gd name="connsiteY3" fmla="*/ 173105 h 284894"/>
              <a:gd name="connsiteX4" fmla="*/ 281940 w 2198370"/>
              <a:gd name="connsiteY4" fmla="*/ 20705 h 284894"/>
              <a:gd name="connsiteX5" fmla="*/ 0 w 2198370"/>
              <a:gd name="connsiteY5" fmla="*/ 5465 h 284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8370" h="284894">
                <a:moveTo>
                  <a:pt x="2198370" y="226445"/>
                </a:moveTo>
                <a:cubicBezTo>
                  <a:pt x="2164715" y="227080"/>
                  <a:pt x="2056130" y="283595"/>
                  <a:pt x="1939290" y="283595"/>
                </a:cubicBezTo>
                <a:cubicBezTo>
                  <a:pt x="1822450" y="283595"/>
                  <a:pt x="1616075" y="290580"/>
                  <a:pt x="1432560" y="272165"/>
                </a:cubicBezTo>
                <a:cubicBezTo>
                  <a:pt x="1249045" y="253750"/>
                  <a:pt x="1029970" y="215015"/>
                  <a:pt x="838200" y="173105"/>
                </a:cubicBezTo>
                <a:cubicBezTo>
                  <a:pt x="646430" y="131195"/>
                  <a:pt x="421640" y="48645"/>
                  <a:pt x="281940" y="20705"/>
                </a:cubicBezTo>
                <a:cubicBezTo>
                  <a:pt x="142240" y="-7235"/>
                  <a:pt x="71120" y="-885"/>
                  <a:pt x="0" y="5465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 type="oval" w="med" len="med"/>
            <a:tailEnd type="oval" w="med" len="med"/>
          </a:ln>
        </p:spPr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0" name="Connecteur droit avec flèche 19"/>
          <p:cNvCxnSpPr/>
          <p:nvPr/>
        </p:nvCxnSpPr>
        <p:spPr>
          <a:xfrm flipH="1" flipV="1">
            <a:off x="3872007" y="5613864"/>
            <a:ext cx="294228" cy="7827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/>
          <p:cNvCxnSpPr/>
          <p:nvPr/>
        </p:nvCxnSpPr>
        <p:spPr>
          <a:xfrm>
            <a:off x="3884168" y="5418358"/>
            <a:ext cx="203962" cy="52213"/>
          </a:xfrm>
          <a:prstGeom prst="straightConnector1">
            <a:avLst/>
          </a:prstGeom>
          <a:ln w="38100">
            <a:solidFill>
              <a:srgbClr val="0000FF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orme libre 36"/>
          <p:cNvSpPr/>
          <p:nvPr/>
        </p:nvSpPr>
        <p:spPr bwMode="auto">
          <a:xfrm>
            <a:off x="5734050" y="3888858"/>
            <a:ext cx="3375660" cy="1723106"/>
          </a:xfrm>
          <a:custGeom>
            <a:avLst/>
            <a:gdLst>
              <a:gd name="connsiteX0" fmla="*/ 3493008 w 3493008"/>
              <a:gd name="connsiteY0" fmla="*/ 0 h 1892808"/>
              <a:gd name="connsiteX1" fmla="*/ 2331720 w 3493008"/>
              <a:gd name="connsiteY1" fmla="*/ 1399032 h 1892808"/>
              <a:gd name="connsiteX2" fmla="*/ 0 w 3493008"/>
              <a:gd name="connsiteY2" fmla="*/ 1892808 h 1892808"/>
              <a:gd name="connsiteX0" fmla="*/ 3442208 w 3442208"/>
              <a:gd name="connsiteY0" fmla="*/ 0 h 1852168"/>
              <a:gd name="connsiteX1" fmla="*/ 2331720 w 3442208"/>
              <a:gd name="connsiteY1" fmla="*/ 1358392 h 1852168"/>
              <a:gd name="connsiteX2" fmla="*/ 0 w 3442208"/>
              <a:gd name="connsiteY2" fmla="*/ 1852168 h 1852168"/>
              <a:gd name="connsiteX0" fmla="*/ 3480156 w 3480156"/>
              <a:gd name="connsiteY0" fmla="*/ 0 h 1830388"/>
              <a:gd name="connsiteX1" fmla="*/ 2331720 w 3480156"/>
              <a:gd name="connsiteY1" fmla="*/ 1336612 h 1830388"/>
              <a:gd name="connsiteX2" fmla="*/ 0 w 3480156"/>
              <a:gd name="connsiteY2" fmla="*/ 1830388 h 1830388"/>
              <a:gd name="connsiteX0" fmla="*/ 3410861 w 3410861"/>
              <a:gd name="connsiteY0" fmla="*/ 0 h 1786926"/>
              <a:gd name="connsiteX1" fmla="*/ 2262425 w 3410861"/>
              <a:gd name="connsiteY1" fmla="*/ 1336612 h 1786926"/>
              <a:gd name="connsiteX2" fmla="*/ 0 w 3410861"/>
              <a:gd name="connsiteY2" fmla="*/ 1786926 h 1786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10861" h="1786926">
                <a:moveTo>
                  <a:pt x="3410861" y="0"/>
                </a:moveTo>
                <a:cubicBezTo>
                  <a:pt x="3121301" y="541782"/>
                  <a:pt x="2844593" y="1021144"/>
                  <a:pt x="2262425" y="1336612"/>
                </a:cubicBezTo>
                <a:cubicBezTo>
                  <a:pt x="1680257" y="1652080"/>
                  <a:pt x="874776" y="1697772"/>
                  <a:pt x="0" y="1786926"/>
                </a:cubicBezTo>
              </a:path>
            </a:pathLst>
          </a:custGeom>
          <a:noFill/>
          <a:ln w="38100">
            <a:solidFill>
              <a:srgbClr val="0000FF"/>
            </a:solidFill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9" name="Connecteur droit 38"/>
          <p:cNvCxnSpPr/>
          <p:nvPr/>
        </p:nvCxnSpPr>
        <p:spPr>
          <a:xfrm flipV="1">
            <a:off x="4620768" y="2097024"/>
            <a:ext cx="323088" cy="554736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39"/>
          <p:cNvCxnSpPr/>
          <p:nvPr/>
        </p:nvCxnSpPr>
        <p:spPr>
          <a:xfrm flipV="1">
            <a:off x="4465701" y="2097024"/>
            <a:ext cx="323088" cy="554736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34472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e 12"/>
          <p:cNvGrpSpPr/>
          <p:nvPr/>
        </p:nvGrpSpPr>
        <p:grpSpPr>
          <a:xfrm>
            <a:off x="305922" y="772098"/>
            <a:ext cx="11591438" cy="5124831"/>
            <a:chOff x="600562" y="822898"/>
            <a:chExt cx="11591438" cy="5124831"/>
          </a:xfrm>
        </p:grpSpPr>
        <p:pic>
          <p:nvPicPr>
            <p:cNvPr id="2" name="Image 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0562" y="822898"/>
              <a:ext cx="11591438" cy="5124831"/>
            </a:xfrm>
            <a:prstGeom prst="rect">
              <a:avLst/>
            </a:prstGeom>
          </p:spPr>
        </p:pic>
        <p:pic>
          <p:nvPicPr>
            <p:cNvPr id="3" name="Picture 1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814777" y="1070779"/>
              <a:ext cx="1970033" cy="1687376"/>
            </a:xfrm>
            <a:prstGeom prst="rect">
              <a:avLst/>
            </a:prstGeom>
            <a:noFill/>
            <a:ln w="38100">
              <a:solidFill>
                <a:srgbClr val="0000FF"/>
              </a:solidFill>
              <a:miter lim="800000"/>
              <a:headEnd/>
              <a:tailEnd/>
            </a:ln>
            <a:effectLst/>
          </p:spPr>
        </p:pic>
        <p:pic>
          <p:nvPicPr>
            <p:cNvPr id="4" name="Picture 9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542300" y="1041283"/>
              <a:ext cx="2023445" cy="1687376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ffectLst/>
          </p:spPr>
        </p:pic>
        <p:sp>
          <p:nvSpPr>
            <p:cNvPr id="5" name="ZoneTexte 4"/>
            <p:cNvSpPr txBox="1"/>
            <p:nvPr/>
          </p:nvSpPr>
          <p:spPr>
            <a:xfrm>
              <a:off x="2459059" y="1355537"/>
              <a:ext cx="1106685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fr-FR" i="1" dirty="0" smtClean="0">
                  <a:solidFill>
                    <a:srgbClr val="FF0000"/>
                  </a:solidFill>
                </a:rPr>
                <a:t>Programme</a:t>
              </a:r>
              <a:endParaRPr lang="fr-FR" i="1" dirty="0">
                <a:solidFill>
                  <a:srgbClr val="FF0000"/>
                </a:solidFill>
              </a:endParaRPr>
            </a:p>
          </p:txBody>
        </p:sp>
        <p:sp>
          <p:nvSpPr>
            <p:cNvPr id="6" name="ZoneTexte 5"/>
            <p:cNvSpPr txBox="1"/>
            <p:nvPr/>
          </p:nvSpPr>
          <p:spPr>
            <a:xfrm>
              <a:off x="4339376" y="1296540"/>
              <a:ext cx="1379288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fr-FR" i="1" dirty="0">
                  <a:solidFill>
                    <a:srgbClr val="0000FF"/>
                  </a:solidFill>
                </a:rPr>
                <a:t>moniteur série</a:t>
              </a:r>
            </a:p>
          </p:txBody>
        </p:sp>
        <p:cxnSp>
          <p:nvCxnSpPr>
            <p:cNvPr id="9" name="Connecteur droit 8"/>
            <p:cNvCxnSpPr/>
            <p:nvPr/>
          </p:nvCxnSpPr>
          <p:spPr>
            <a:xfrm>
              <a:off x="5538365" y="3167512"/>
              <a:ext cx="28800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oval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/>
            <p:cNvCxnSpPr/>
            <p:nvPr/>
          </p:nvCxnSpPr>
          <p:spPr>
            <a:xfrm>
              <a:off x="7187381" y="3147844"/>
              <a:ext cx="265471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orme libre 7"/>
            <p:cNvSpPr/>
            <p:nvPr/>
          </p:nvSpPr>
          <p:spPr bwMode="auto">
            <a:xfrm>
              <a:off x="10066020" y="3200400"/>
              <a:ext cx="1520190" cy="655320"/>
            </a:xfrm>
            <a:custGeom>
              <a:avLst/>
              <a:gdLst>
                <a:gd name="connsiteX0" fmla="*/ 1520190 w 1520190"/>
                <a:gd name="connsiteY0" fmla="*/ 552450 h 552450"/>
                <a:gd name="connsiteX1" fmla="*/ 1516380 w 1520190"/>
                <a:gd name="connsiteY1" fmla="*/ 0 h 552450"/>
                <a:gd name="connsiteX2" fmla="*/ 0 w 1520190"/>
                <a:gd name="connsiteY2" fmla="*/ 0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20190" h="552450">
                  <a:moveTo>
                    <a:pt x="1520190" y="552450"/>
                  </a:moveTo>
                  <a:lnTo>
                    <a:pt x="1516380" y="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" name="Forme libre 20"/>
            <p:cNvSpPr/>
            <p:nvPr/>
          </p:nvSpPr>
          <p:spPr bwMode="auto">
            <a:xfrm>
              <a:off x="10066020" y="3303638"/>
              <a:ext cx="1623822" cy="558177"/>
            </a:xfrm>
            <a:custGeom>
              <a:avLst/>
              <a:gdLst>
                <a:gd name="connsiteX0" fmla="*/ 1520190 w 1520190"/>
                <a:gd name="connsiteY0" fmla="*/ 552450 h 552450"/>
                <a:gd name="connsiteX1" fmla="*/ 1516380 w 1520190"/>
                <a:gd name="connsiteY1" fmla="*/ 0 h 552450"/>
                <a:gd name="connsiteX2" fmla="*/ 0 w 1520190"/>
                <a:gd name="connsiteY2" fmla="*/ 0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20190" h="552450">
                  <a:moveTo>
                    <a:pt x="1520190" y="552450"/>
                  </a:moveTo>
                  <a:lnTo>
                    <a:pt x="1516380" y="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Forme libre 9"/>
            <p:cNvSpPr/>
            <p:nvPr/>
          </p:nvSpPr>
          <p:spPr bwMode="auto">
            <a:xfrm>
              <a:off x="5541264" y="3139440"/>
              <a:ext cx="4297680" cy="103632"/>
            </a:xfrm>
            <a:custGeom>
              <a:avLst/>
              <a:gdLst>
                <a:gd name="connsiteX0" fmla="*/ 4297680 w 4297680"/>
                <a:gd name="connsiteY0" fmla="*/ 109728 h 109728"/>
                <a:gd name="connsiteX1" fmla="*/ 3681984 w 4297680"/>
                <a:gd name="connsiteY1" fmla="*/ 0 h 109728"/>
                <a:gd name="connsiteX2" fmla="*/ 0 w 4297680"/>
                <a:gd name="connsiteY2" fmla="*/ 36576 h 109728"/>
                <a:gd name="connsiteX0" fmla="*/ 4297680 w 4297680"/>
                <a:gd name="connsiteY0" fmla="*/ 103632 h 103632"/>
                <a:gd name="connsiteX1" fmla="*/ 3675888 w 4297680"/>
                <a:gd name="connsiteY1" fmla="*/ 0 h 103632"/>
                <a:gd name="connsiteX2" fmla="*/ 0 w 4297680"/>
                <a:gd name="connsiteY2" fmla="*/ 30480 h 103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97680" h="103632">
                  <a:moveTo>
                    <a:pt x="4297680" y="103632"/>
                  </a:moveTo>
                  <a:lnTo>
                    <a:pt x="3675888" y="0"/>
                  </a:lnTo>
                  <a:lnTo>
                    <a:pt x="0" y="30480"/>
                  </a:lnTo>
                </a:path>
              </a:pathLst>
            </a:custGeom>
            <a:noFill/>
            <a:ln w="57150">
              <a:solidFill>
                <a:srgbClr val="FFFF00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9" name="Forme libre 18"/>
          <p:cNvSpPr/>
          <p:nvPr/>
        </p:nvSpPr>
        <p:spPr bwMode="auto">
          <a:xfrm>
            <a:off x="4539684" y="2702560"/>
            <a:ext cx="713035" cy="416560"/>
          </a:xfrm>
          <a:custGeom>
            <a:avLst/>
            <a:gdLst>
              <a:gd name="connsiteX0" fmla="*/ 3241040 w 3241040"/>
              <a:gd name="connsiteY0" fmla="*/ 416560 h 416560"/>
              <a:gd name="connsiteX1" fmla="*/ 304800 w 3241040"/>
              <a:gd name="connsiteY1" fmla="*/ 416560 h 416560"/>
              <a:gd name="connsiteX2" fmla="*/ 0 w 3241040"/>
              <a:gd name="connsiteY2" fmla="*/ 0 h 416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41040" h="416560">
                <a:moveTo>
                  <a:pt x="3241040" y="416560"/>
                </a:moveTo>
                <a:lnTo>
                  <a:pt x="304800" y="416560"/>
                </a:lnTo>
                <a:lnTo>
                  <a:pt x="0" y="0"/>
                </a:lnTo>
              </a:path>
            </a:pathLst>
          </a:custGeom>
          <a:noFill/>
          <a:ln w="57150">
            <a:solidFill>
              <a:srgbClr val="FFFF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2488115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e 7"/>
          <p:cNvGrpSpPr/>
          <p:nvPr/>
        </p:nvGrpSpPr>
        <p:grpSpPr>
          <a:xfrm>
            <a:off x="656907" y="1225867"/>
            <a:ext cx="10442258" cy="4467225"/>
            <a:chOff x="656907" y="1225867"/>
            <a:chExt cx="10442258" cy="4467225"/>
          </a:xfrm>
        </p:grpSpPr>
        <p:pic>
          <p:nvPicPr>
            <p:cNvPr id="5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82435" y="2674460"/>
              <a:ext cx="4316730" cy="2525078"/>
            </a:xfrm>
            <a:prstGeom prst="rect">
              <a:avLst/>
            </a:prstGeom>
          </p:spPr>
        </p:pic>
        <p:pic>
          <p:nvPicPr>
            <p:cNvPr id="6" name="Imag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6907" y="1225867"/>
              <a:ext cx="6143625" cy="4467225"/>
            </a:xfrm>
            <a:prstGeom prst="rect">
              <a:avLst/>
            </a:prstGeom>
          </p:spPr>
        </p:pic>
        <p:sp>
          <p:nvSpPr>
            <p:cNvPr id="7" name="ZoneTexte 6"/>
            <p:cNvSpPr txBox="1"/>
            <p:nvPr/>
          </p:nvSpPr>
          <p:spPr>
            <a:xfrm>
              <a:off x="5867961" y="1396166"/>
              <a:ext cx="4993079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fr-FR" sz="2400" i="1" dirty="0" smtClean="0">
                  <a:solidFill>
                    <a:srgbClr val="FF0000"/>
                  </a:solidFill>
                </a:rPr>
                <a:t>Pendant la phase de </a:t>
              </a:r>
              <a:r>
                <a:rPr lang="fr-FR" sz="2400" i="1" dirty="0" err="1" smtClean="0">
                  <a:solidFill>
                    <a:srgbClr val="FF0000"/>
                  </a:solidFill>
                </a:rPr>
                <a:t>téléversement</a:t>
              </a:r>
              <a:r>
                <a:rPr lang="fr-FR" sz="2400" i="1" dirty="0" smtClean="0">
                  <a:solidFill>
                    <a:srgbClr val="FF0000"/>
                  </a:solidFill>
                </a:rPr>
                <a:t>, le programme est envoyé dans la mémoire flash du </a:t>
              </a:r>
              <a:r>
                <a:rPr lang="fr-FR" sz="2400" i="1" dirty="0">
                  <a:solidFill>
                    <a:srgbClr val="FF0000"/>
                  </a:solidFill>
                </a:rPr>
                <a:t>A</a:t>
              </a:r>
              <a:r>
                <a:rPr lang="fr-FR" sz="2400" i="1" dirty="0" smtClean="0">
                  <a:solidFill>
                    <a:srgbClr val="FF0000"/>
                  </a:solidFill>
                </a:rPr>
                <a:t>rduino à travers son port série</a:t>
              </a:r>
              <a:endParaRPr lang="fr-FR" sz="2400" i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3194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e 7"/>
          <p:cNvGrpSpPr/>
          <p:nvPr/>
        </p:nvGrpSpPr>
        <p:grpSpPr>
          <a:xfrm>
            <a:off x="656907" y="1225867"/>
            <a:ext cx="10442258" cy="4467225"/>
            <a:chOff x="656907" y="1225867"/>
            <a:chExt cx="10442258" cy="4467225"/>
          </a:xfrm>
        </p:grpSpPr>
        <p:pic>
          <p:nvPicPr>
            <p:cNvPr id="5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82435" y="2674460"/>
              <a:ext cx="4316730" cy="2525078"/>
            </a:xfrm>
            <a:prstGeom prst="rect">
              <a:avLst/>
            </a:prstGeom>
          </p:spPr>
        </p:pic>
        <p:pic>
          <p:nvPicPr>
            <p:cNvPr id="6" name="Imag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6907" y="1225867"/>
              <a:ext cx="6143625" cy="4467225"/>
            </a:xfrm>
            <a:prstGeom prst="rect">
              <a:avLst/>
            </a:prstGeom>
          </p:spPr>
        </p:pic>
        <p:sp>
          <p:nvSpPr>
            <p:cNvPr id="7" name="ZoneTexte 6"/>
            <p:cNvSpPr txBox="1"/>
            <p:nvPr/>
          </p:nvSpPr>
          <p:spPr>
            <a:xfrm>
              <a:off x="5867961" y="1396166"/>
              <a:ext cx="4993079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fr-FR" sz="2400" i="1" dirty="0" smtClean="0"/>
                <a:t>Pendant la phase de </a:t>
              </a:r>
              <a:r>
                <a:rPr lang="fr-FR" sz="2400" i="1" dirty="0" err="1" smtClean="0">
                  <a:solidFill>
                    <a:srgbClr val="FF0000"/>
                  </a:solidFill>
                </a:rPr>
                <a:t>téléversement</a:t>
              </a:r>
              <a:r>
                <a:rPr lang="fr-FR" sz="2400" i="1" dirty="0" smtClean="0"/>
                <a:t>, le programme est envoyé dans la mémoire flash du </a:t>
              </a:r>
              <a:r>
                <a:rPr lang="fr-FR" sz="2400" i="1" dirty="0"/>
                <a:t>A</a:t>
              </a:r>
              <a:r>
                <a:rPr lang="fr-FR" sz="2400" i="1" dirty="0" smtClean="0"/>
                <a:t>rduino à travers son port série</a:t>
              </a:r>
              <a:endParaRPr lang="fr-FR" sz="2400" i="1" dirty="0"/>
            </a:p>
          </p:txBody>
        </p:sp>
      </p:grpSp>
    </p:spTree>
    <p:extLst>
      <p:ext uri="{BB962C8B-B14F-4D97-AF65-F5344CB8AC3E}">
        <p14:creationId xmlns="" xmlns:p14="http://schemas.microsoft.com/office/powerpoint/2010/main" val="401197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42" y="967390"/>
            <a:ext cx="11591438" cy="5124831"/>
          </a:xfrm>
          <a:prstGeom prst="rect">
            <a:avLst/>
          </a:prstGeom>
        </p:spPr>
      </p:pic>
      <p:pic>
        <p:nvPicPr>
          <p:cNvPr id="4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88057" y="1215271"/>
            <a:ext cx="1970033" cy="1687376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  <a:effectLst/>
        </p:spPr>
      </p:pic>
      <p:pic>
        <p:nvPicPr>
          <p:cNvPr id="5" name="Picture 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15580" y="1185775"/>
            <a:ext cx="2023445" cy="1687376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6" name="ZoneTexte 5"/>
          <p:cNvSpPr txBox="1"/>
          <p:nvPr/>
        </p:nvSpPr>
        <p:spPr>
          <a:xfrm>
            <a:off x="2032339" y="1500029"/>
            <a:ext cx="110668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i="1" dirty="0" smtClean="0">
                <a:solidFill>
                  <a:srgbClr val="FF0000"/>
                </a:solidFill>
              </a:rPr>
              <a:t>Programme</a:t>
            </a:r>
            <a:endParaRPr lang="fr-FR" i="1" dirty="0">
              <a:solidFill>
                <a:srgbClr val="FF0000"/>
              </a:solidFill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3912656" y="1441032"/>
            <a:ext cx="13792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fr-FR" i="1" dirty="0">
                <a:solidFill>
                  <a:srgbClr val="0000FF"/>
                </a:solidFill>
              </a:rPr>
              <a:t>moniteur série</a:t>
            </a:r>
          </a:p>
        </p:txBody>
      </p:sp>
      <p:cxnSp>
        <p:nvCxnSpPr>
          <p:cNvPr id="8" name="Connecteur droit 7"/>
          <p:cNvCxnSpPr/>
          <p:nvPr/>
        </p:nvCxnSpPr>
        <p:spPr>
          <a:xfrm>
            <a:off x="5111645" y="3312004"/>
            <a:ext cx="288000" cy="0"/>
          </a:xfrm>
          <a:prstGeom prst="line">
            <a:avLst/>
          </a:prstGeom>
          <a:ln w="3810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760661" y="3292336"/>
            <a:ext cx="265471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rme libre 9"/>
          <p:cNvSpPr/>
          <p:nvPr/>
        </p:nvSpPr>
        <p:spPr bwMode="auto">
          <a:xfrm>
            <a:off x="9639300" y="3344892"/>
            <a:ext cx="1520190" cy="655320"/>
          </a:xfrm>
          <a:custGeom>
            <a:avLst/>
            <a:gdLst>
              <a:gd name="connsiteX0" fmla="*/ 1520190 w 1520190"/>
              <a:gd name="connsiteY0" fmla="*/ 552450 h 552450"/>
              <a:gd name="connsiteX1" fmla="*/ 1516380 w 1520190"/>
              <a:gd name="connsiteY1" fmla="*/ 0 h 552450"/>
              <a:gd name="connsiteX2" fmla="*/ 0 w 1520190"/>
              <a:gd name="connsiteY2" fmla="*/ 0 h 55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20190" h="552450">
                <a:moveTo>
                  <a:pt x="1520190" y="552450"/>
                </a:moveTo>
                <a:lnTo>
                  <a:pt x="1516380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FFC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Forme libre 10"/>
          <p:cNvSpPr/>
          <p:nvPr/>
        </p:nvSpPr>
        <p:spPr bwMode="auto">
          <a:xfrm>
            <a:off x="9639300" y="3448130"/>
            <a:ext cx="1623822" cy="558177"/>
          </a:xfrm>
          <a:custGeom>
            <a:avLst/>
            <a:gdLst>
              <a:gd name="connsiteX0" fmla="*/ 1520190 w 1520190"/>
              <a:gd name="connsiteY0" fmla="*/ 552450 h 552450"/>
              <a:gd name="connsiteX1" fmla="*/ 1516380 w 1520190"/>
              <a:gd name="connsiteY1" fmla="*/ 0 h 552450"/>
              <a:gd name="connsiteX2" fmla="*/ 0 w 1520190"/>
              <a:gd name="connsiteY2" fmla="*/ 0 h 55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20190" h="552450">
                <a:moveTo>
                  <a:pt x="1520190" y="552450"/>
                </a:moveTo>
                <a:lnTo>
                  <a:pt x="1516380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00FF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Forme libre 11"/>
          <p:cNvSpPr/>
          <p:nvPr/>
        </p:nvSpPr>
        <p:spPr bwMode="auto">
          <a:xfrm>
            <a:off x="5114544" y="3283932"/>
            <a:ext cx="4297680" cy="103632"/>
          </a:xfrm>
          <a:custGeom>
            <a:avLst/>
            <a:gdLst>
              <a:gd name="connsiteX0" fmla="*/ 4297680 w 4297680"/>
              <a:gd name="connsiteY0" fmla="*/ 109728 h 109728"/>
              <a:gd name="connsiteX1" fmla="*/ 3681984 w 4297680"/>
              <a:gd name="connsiteY1" fmla="*/ 0 h 109728"/>
              <a:gd name="connsiteX2" fmla="*/ 0 w 4297680"/>
              <a:gd name="connsiteY2" fmla="*/ 36576 h 109728"/>
              <a:gd name="connsiteX0" fmla="*/ 4297680 w 4297680"/>
              <a:gd name="connsiteY0" fmla="*/ 103632 h 103632"/>
              <a:gd name="connsiteX1" fmla="*/ 3675888 w 4297680"/>
              <a:gd name="connsiteY1" fmla="*/ 0 h 103632"/>
              <a:gd name="connsiteX2" fmla="*/ 0 w 4297680"/>
              <a:gd name="connsiteY2" fmla="*/ 30480 h 103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97680" h="103632">
                <a:moveTo>
                  <a:pt x="4297680" y="103632"/>
                </a:moveTo>
                <a:lnTo>
                  <a:pt x="3675888" y="0"/>
                </a:lnTo>
                <a:lnTo>
                  <a:pt x="0" y="30480"/>
                </a:lnTo>
              </a:path>
            </a:pathLst>
          </a:custGeom>
          <a:noFill/>
          <a:ln w="57150">
            <a:solidFill>
              <a:srgbClr val="FFFF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3" name="Image 12"/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701077" y="1587741"/>
            <a:ext cx="2159000" cy="835025"/>
          </a:xfrm>
          <a:prstGeom prst="rect">
            <a:avLst/>
          </a:prstGeom>
          <a:noFill/>
        </p:spPr>
      </p:pic>
      <p:sp>
        <p:nvSpPr>
          <p:cNvPr id="18" name="Forme libre 17"/>
          <p:cNvSpPr/>
          <p:nvPr/>
        </p:nvSpPr>
        <p:spPr>
          <a:xfrm>
            <a:off x="10830560" y="1810732"/>
            <a:ext cx="467360" cy="863600"/>
          </a:xfrm>
          <a:custGeom>
            <a:avLst/>
            <a:gdLst>
              <a:gd name="connsiteX0" fmla="*/ 467360 w 467360"/>
              <a:gd name="connsiteY0" fmla="*/ 838200 h 838200"/>
              <a:gd name="connsiteX1" fmla="*/ 467360 w 467360"/>
              <a:gd name="connsiteY1" fmla="*/ 0 h 838200"/>
              <a:gd name="connsiteX2" fmla="*/ 0 w 467360"/>
              <a:gd name="connsiteY2" fmla="*/ 0 h 83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7360" h="838200">
                <a:moveTo>
                  <a:pt x="467360" y="838200"/>
                </a:moveTo>
                <a:lnTo>
                  <a:pt x="467360" y="0"/>
                </a:lnTo>
                <a:lnTo>
                  <a:pt x="0" y="0"/>
                </a:lnTo>
              </a:path>
            </a:pathLst>
          </a:cu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19" name="Forme libre 18"/>
          <p:cNvSpPr/>
          <p:nvPr/>
        </p:nvSpPr>
        <p:spPr>
          <a:xfrm>
            <a:off x="10825480" y="1932652"/>
            <a:ext cx="584200" cy="726440"/>
          </a:xfrm>
          <a:custGeom>
            <a:avLst/>
            <a:gdLst>
              <a:gd name="connsiteX0" fmla="*/ 467360 w 467360"/>
              <a:gd name="connsiteY0" fmla="*/ 838200 h 838200"/>
              <a:gd name="connsiteX1" fmla="*/ 467360 w 467360"/>
              <a:gd name="connsiteY1" fmla="*/ 0 h 838200"/>
              <a:gd name="connsiteX2" fmla="*/ 0 w 467360"/>
              <a:gd name="connsiteY2" fmla="*/ 0 h 83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7360" h="838200">
                <a:moveTo>
                  <a:pt x="467360" y="838200"/>
                </a:moveTo>
                <a:lnTo>
                  <a:pt x="467360" y="0"/>
                </a:lnTo>
                <a:lnTo>
                  <a:pt x="0" y="0"/>
                </a:lnTo>
              </a:path>
            </a:pathLst>
          </a:custGeom>
          <a:ln w="28575">
            <a:solidFill>
              <a:srgbClr val="00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22" name="Forme libre 21"/>
          <p:cNvSpPr/>
          <p:nvPr/>
        </p:nvSpPr>
        <p:spPr>
          <a:xfrm>
            <a:off x="11153140" y="2664172"/>
            <a:ext cx="147320" cy="693420"/>
          </a:xfrm>
          <a:custGeom>
            <a:avLst/>
            <a:gdLst>
              <a:gd name="connsiteX0" fmla="*/ 147320 w 147320"/>
              <a:gd name="connsiteY0" fmla="*/ 0 h 693420"/>
              <a:gd name="connsiteX1" fmla="*/ 88900 w 147320"/>
              <a:gd name="connsiteY1" fmla="*/ 180340 h 693420"/>
              <a:gd name="connsiteX2" fmla="*/ 88900 w 147320"/>
              <a:gd name="connsiteY2" fmla="*/ 589280 h 693420"/>
              <a:gd name="connsiteX3" fmla="*/ 0 w 147320"/>
              <a:gd name="connsiteY3" fmla="*/ 693420 h 693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7320" h="693420">
                <a:moveTo>
                  <a:pt x="147320" y="0"/>
                </a:moveTo>
                <a:lnTo>
                  <a:pt x="88900" y="180340"/>
                </a:lnTo>
                <a:lnTo>
                  <a:pt x="88900" y="589280"/>
                </a:lnTo>
                <a:lnTo>
                  <a:pt x="0" y="693420"/>
                </a:lnTo>
              </a:path>
            </a:pathLst>
          </a:cu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 à coins arrondis 23"/>
          <p:cNvSpPr/>
          <p:nvPr/>
        </p:nvSpPr>
        <p:spPr>
          <a:xfrm>
            <a:off x="11389360" y="2643852"/>
            <a:ext cx="45719" cy="45719"/>
          </a:xfrm>
          <a:prstGeom prst="roundRect">
            <a:avLst/>
          </a:prstGeom>
          <a:solidFill>
            <a:srgbClr val="00FF00"/>
          </a:solidFill>
          <a:ln w="9525">
            <a:solidFill>
              <a:srgbClr val="00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à coins arrondis 24"/>
          <p:cNvSpPr/>
          <p:nvPr/>
        </p:nvSpPr>
        <p:spPr>
          <a:xfrm>
            <a:off x="11275060" y="2646392"/>
            <a:ext cx="45719" cy="45719"/>
          </a:xfrm>
          <a:prstGeom prst="roundRect">
            <a:avLst/>
          </a:prstGeom>
          <a:solidFill>
            <a:srgbClr val="FFC000"/>
          </a:solidFill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Forme libre 27"/>
          <p:cNvSpPr/>
          <p:nvPr/>
        </p:nvSpPr>
        <p:spPr>
          <a:xfrm>
            <a:off x="11256645" y="2666077"/>
            <a:ext cx="154305" cy="784860"/>
          </a:xfrm>
          <a:custGeom>
            <a:avLst/>
            <a:gdLst>
              <a:gd name="connsiteX0" fmla="*/ 154305 w 154305"/>
              <a:gd name="connsiteY0" fmla="*/ 0 h 784860"/>
              <a:gd name="connsiteX1" fmla="*/ 108585 w 154305"/>
              <a:gd name="connsiteY1" fmla="*/ 154305 h 784860"/>
              <a:gd name="connsiteX2" fmla="*/ 106680 w 154305"/>
              <a:gd name="connsiteY2" fmla="*/ 662940 h 784860"/>
              <a:gd name="connsiteX3" fmla="*/ 0 w 154305"/>
              <a:gd name="connsiteY3" fmla="*/ 784860 h 784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305" h="784860">
                <a:moveTo>
                  <a:pt x="154305" y="0"/>
                </a:moveTo>
                <a:lnTo>
                  <a:pt x="108585" y="154305"/>
                </a:lnTo>
                <a:lnTo>
                  <a:pt x="106680" y="662940"/>
                </a:lnTo>
                <a:lnTo>
                  <a:pt x="0" y="784860"/>
                </a:lnTo>
              </a:path>
            </a:pathLst>
          </a:custGeom>
          <a:ln w="28575">
            <a:solidFill>
              <a:srgbClr val="00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Forme libre 28"/>
          <p:cNvSpPr/>
          <p:nvPr/>
        </p:nvSpPr>
        <p:spPr>
          <a:xfrm>
            <a:off x="1998733" y="2880769"/>
            <a:ext cx="3123525" cy="436970"/>
          </a:xfrm>
          <a:custGeom>
            <a:avLst/>
            <a:gdLst>
              <a:gd name="connsiteX0" fmla="*/ 3123525 w 3123525"/>
              <a:gd name="connsiteY0" fmla="*/ 436970 h 436970"/>
              <a:gd name="connsiteX1" fmla="*/ 275129 w 3123525"/>
              <a:gd name="connsiteY1" fmla="*/ 436970 h 436970"/>
              <a:gd name="connsiteX2" fmla="*/ 0 w 3123525"/>
              <a:gd name="connsiteY2" fmla="*/ 0 h 436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23525" h="436970">
                <a:moveTo>
                  <a:pt x="3123525" y="436970"/>
                </a:moveTo>
                <a:lnTo>
                  <a:pt x="275129" y="436970"/>
                </a:lnTo>
                <a:lnTo>
                  <a:pt x="0" y="0"/>
                </a:lnTo>
              </a:path>
            </a:pathLst>
          </a:cu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/>
          <p:cNvGrpSpPr/>
          <p:nvPr/>
        </p:nvGrpSpPr>
        <p:grpSpPr>
          <a:xfrm>
            <a:off x="578167" y="1290320"/>
            <a:ext cx="10520998" cy="4419600"/>
            <a:chOff x="578167" y="1290320"/>
            <a:chExt cx="10520998" cy="4419600"/>
          </a:xfrm>
        </p:grpSpPr>
        <p:pic>
          <p:nvPicPr>
            <p:cNvPr id="5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82435" y="2687160"/>
              <a:ext cx="4316730" cy="2525078"/>
            </a:xfrm>
            <a:prstGeom prst="rect">
              <a:avLst/>
            </a:prstGeom>
          </p:spPr>
        </p:pic>
        <p:pic>
          <p:nvPicPr>
            <p:cNvPr id="2" name="Image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8167" y="1290320"/>
              <a:ext cx="6219825" cy="4419600"/>
            </a:xfrm>
            <a:prstGeom prst="rect">
              <a:avLst/>
            </a:prstGeom>
          </p:spPr>
        </p:pic>
        <p:sp>
          <p:nvSpPr>
            <p:cNvPr id="7" name="ZoneTexte 6"/>
            <p:cNvSpPr txBox="1"/>
            <p:nvPr/>
          </p:nvSpPr>
          <p:spPr>
            <a:xfrm>
              <a:off x="5882566" y="1371600"/>
              <a:ext cx="4993079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fr-FR" sz="2400" i="1" dirty="0" smtClean="0"/>
                <a:t>Pendant la phase </a:t>
              </a:r>
              <a:r>
                <a:rPr lang="fr-FR" sz="2400" i="1" dirty="0" smtClean="0">
                  <a:solidFill>
                    <a:srgbClr val="0000FF"/>
                  </a:solidFill>
                </a:rPr>
                <a:t>d’exécution</a:t>
              </a:r>
              <a:r>
                <a:rPr lang="fr-FR" sz="2400" i="1" dirty="0" smtClean="0"/>
                <a:t>, l’Arduino utilise son port série pour communiquer avec le moniteur série</a:t>
              </a:r>
              <a:endParaRPr lang="fr-FR" sz="2400" i="1" dirty="0"/>
            </a:p>
          </p:txBody>
        </p:sp>
      </p:grpSp>
    </p:spTree>
    <p:extLst>
      <p:ext uri="{BB962C8B-B14F-4D97-AF65-F5344CB8AC3E}">
        <p14:creationId xmlns="" xmlns:p14="http://schemas.microsoft.com/office/powerpoint/2010/main" val="725976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4650" y="202501"/>
            <a:ext cx="3162300" cy="6562725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9617" y="206883"/>
            <a:ext cx="3562350" cy="657225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14645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568" y="897987"/>
            <a:ext cx="11553432" cy="4533941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523734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5229" y="1718161"/>
            <a:ext cx="2781541" cy="3421677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1195468">
            <a:off x="5444442" y="4290080"/>
            <a:ext cx="248463" cy="12588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6026739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"/>
          <p:cNvGrpSpPr>
            <a:grpSpLocks noChangeAspect="1"/>
          </p:cNvGrpSpPr>
          <p:nvPr/>
        </p:nvGrpSpPr>
        <p:grpSpPr bwMode="auto">
          <a:xfrm>
            <a:off x="1743456" y="1085088"/>
            <a:ext cx="4456176" cy="3368040"/>
            <a:chOff x="2093" y="1814"/>
            <a:chExt cx="1856" cy="1434"/>
          </a:xfrm>
        </p:grpSpPr>
        <p:sp>
          <p:nvSpPr>
            <p:cNvPr id="4" name="AutoShape 20"/>
            <p:cNvSpPr>
              <a:spLocks noChangeAspect="1" noChangeArrowheads="1" noTextEdit="1"/>
            </p:cNvSpPr>
            <p:nvPr/>
          </p:nvSpPr>
          <p:spPr bwMode="auto">
            <a:xfrm>
              <a:off x="2093" y="1814"/>
              <a:ext cx="1856" cy="1434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" name="Rectangle 19"/>
            <p:cNvSpPr>
              <a:spLocks noChangeArrowheads="1"/>
            </p:cNvSpPr>
            <p:nvPr/>
          </p:nvSpPr>
          <p:spPr bwMode="auto">
            <a:xfrm>
              <a:off x="3082" y="2460"/>
              <a:ext cx="82" cy="311"/>
            </a:xfrm>
            <a:prstGeom prst="rect">
              <a:avLst/>
            </a:prstGeom>
            <a:solidFill>
              <a:srgbClr val="FDE9D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" name="Line 18"/>
            <p:cNvSpPr>
              <a:spLocks noChangeShapeType="1"/>
            </p:cNvSpPr>
            <p:nvPr/>
          </p:nvSpPr>
          <p:spPr bwMode="auto">
            <a:xfrm>
              <a:off x="3122" y="2775"/>
              <a:ext cx="6" cy="2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" name="AutoShape 17"/>
            <p:cNvSpPr>
              <a:spLocks noChangeArrowheads="1"/>
            </p:cNvSpPr>
            <p:nvPr/>
          </p:nvSpPr>
          <p:spPr bwMode="auto">
            <a:xfrm>
              <a:off x="3336" y="2416"/>
              <a:ext cx="274" cy="315"/>
            </a:xfrm>
            <a:prstGeom prst="roundRect">
              <a:avLst>
                <a:gd name="adj" fmla="val 16667"/>
              </a:avLst>
            </a:prstGeom>
            <a:solidFill>
              <a:srgbClr val="FFC000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" name="Line 16"/>
            <p:cNvSpPr>
              <a:spLocks noChangeShapeType="1"/>
            </p:cNvSpPr>
            <p:nvPr/>
          </p:nvSpPr>
          <p:spPr bwMode="auto">
            <a:xfrm>
              <a:off x="3403" y="2731"/>
              <a:ext cx="1" cy="133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9" name="Line 15"/>
            <p:cNvSpPr>
              <a:spLocks noChangeShapeType="1"/>
            </p:cNvSpPr>
            <p:nvPr/>
          </p:nvSpPr>
          <p:spPr bwMode="auto">
            <a:xfrm>
              <a:off x="3518" y="2742"/>
              <a:ext cx="1" cy="295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" name="AutoShape 14"/>
            <p:cNvSpPr>
              <a:spLocks noChangeArrowheads="1"/>
            </p:cNvSpPr>
            <p:nvPr/>
          </p:nvSpPr>
          <p:spPr bwMode="auto">
            <a:xfrm>
              <a:off x="3660" y="2418"/>
              <a:ext cx="274" cy="315"/>
            </a:xfrm>
            <a:prstGeom prst="roundRect">
              <a:avLst>
                <a:gd name="adj" fmla="val 16667"/>
              </a:avLst>
            </a:prstGeom>
            <a:solidFill>
              <a:srgbClr val="FFC000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" name="Line 13"/>
            <p:cNvSpPr>
              <a:spLocks noChangeShapeType="1"/>
            </p:cNvSpPr>
            <p:nvPr/>
          </p:nvSpPr>
          <p:spPr bwMode="auto">
            <a:xfrm>
              <a:off x="3727" y="2733"/>
              <a:ext cx="1" cy="133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>
              <a:off x="3842" y="2744"/>
              <a:ext cx="1" cy="295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" name="Text Box 11"/>
            <p:cNvSpPr txBox="1">
              <a:spLocks noChangeArrowheads="1"/>
            </p:cNvSpPr>
            <p:nvPr/>
          </p:nvSpPr>
          <p:spPr bwMode="auto">
            <a:xfrm>
              <a:off x="3203" y="2871"/>
              <a:ext cx="122" cy="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sz="1400" b="0" i="1" u="none" strike="noStrike" cap="none" normalizeH="0" baseline="0" dirty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SDA</a:t>
              </a:r>
              <a:endParaRPr kumimoji="0" lang="fr-FR" altLang="fr-FR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" name="Text Box 10"/>
            <p:cNvSpPr txBox="1">
              <a:spLocks noChangeArrowheads="1"/>
            </p:cNvSpPr>
            <p:nvPr/>
          </p:nvSpPr>
          <p:spPr bwMode="auto">
            <a:xfrm>
              <a:off x="3149" y="3053"/>
              <a:ext cx="112" cy="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spAutoFit/>
            </a:bodyPr>
            <a:lstStyle>
              <a:defPPr>
                <a:defRPr lang="fr-FR"/>
              </a:defPPr>
              <a:lvl1pPr marR="0" lvl="0" indent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kumimoji="0" sz="14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fr-FR" altLang="fr-FR" dirty="0">
                  <a:solidFill>
                    <a:srgbClr val="FF0000"/>
                  </a:solidFill>
                </a:rPr>
                <a:t>SCK</a:t>
              </a:r>
            </a:p>
          </p:txBody>
        </p:sp>
        <p:pic>
          <p:nvPicPr>
            <p:cNvPr id="2057" name="Picture 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 t="22127"/>
            <a:stretch>
              <a:fillRect/>
            </a:stretch>
          </p:blipFill>
          <p:spPr bwMode="auto">
            <a:xfrm>
              <a:off x="2093" y="2164"/>
              <a:ext cx="998" cy="1084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Line 8"/>
            <p:cNvSpPr>
              <a:spLocks noChangeShapeType="1"/>
            </p:cNvSpPr>
            <p:nvPr/>
          </p:nvSpPr>
          <p:spPr bwMode="auto">
            <a:xfrm>
              <a:off x="3037" y="2857"/>
              <a:ext cx="870" cy="1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6" name="Line 7"/>
            <p:cNvSpPr>
              <a:spLocks noChangeShapeType="1"/>
            </p:cNvSpPr>
            <p:nvPr/>
          </p:nvSpPr>
          <p:spPr bwMode="auto">
            <a:xfrm>
              <a:off x="2821" y="3037"/>
              <a:ext cx="1077" cy="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7" name="Rectangle 6"/>
            <p:cNvSpPr>
              <a:spLocks noChangeArrowheads="1"/>
            </p:cNvSpPr>
            <p:nvPr/>
          </p:nvSpPr>
          <p:spPr bwMode="auto">
            <a:xfrm>
              <a:off x="3196" y="2455"/>
              <a:ext cx="82" cy="311"/>
            </a:xfrm>
            <a:prstGeom prst="rect">
              <a:avLst/>
            </a:prstGeom>
            <a:solidFill>
              <a:srgbClr val="FDE9D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8" name="Line 5"/>
            <p:cNvSpPr>
              <a:spLocks noChangeShapeType="1"/>
            </p:cNvSpPr>
            <p:nvPr/>
          </p:nvSpPr>
          <p:spPr bwMode="auto">
            <a:xfrm>
              <a:off x="3236" y="2770"/>
              <a:ext cx="2" cy="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9" name="AutoShape 4"/>
            <p:cNvSpPr>
              <a:spLocks noChangeShapeType="1"/>
            </p:cNvSpPr>
            <p:nvPr/>
          </p:nvSpPr>
          <p:spPr bwMode="auto">
            <a:xfrm flipV="1">
              <a:off x="3181" y="2192"/>
              <a:ext cx="1" cy="17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" name="Freeform 3"/>
            <p:cNvSpPr>
              <a:spLocks/>
            </p:cNvSpPr>
            <p:nvPr/>
          </p:nvSpPr>
          <p:spPr bwMode="auto">
            <a:xfrm>
              <a:off x="3126" y="2371"/>
              <a:ext cx="111" cy="85"/>
            </a:xfrm>
            <a:custGeom>
              <a:avLst/>
              <a:gdLst>
                <a:gd name="T0" fmla="*/ 111 w 111"/>
                <a:gd name="T1" fmla="*/ 85 h 85"/>
                <a:gd name="T2" fmla="*/ 111 w 111"/>
                <a:gd name="T3" fmla="*/ 0 h 85"/>
                <a:gd name="T4" fmla="*/ 0 w 111"/>
                <a:gd name="T5" fmla="*/ 0 h 85"/>
                <a:gd name="T6" fmla="*/ 0 w 111"/>
                <a:gd name="T7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1" h="85">
                  <a:moveTo>
                    <a:pt x="111" y="85"/>
                  </a:moveTo>
                  <a:lnTo>
                    <a:pt x="111" y="0"/>
                  </a:lnTo>
                  <a:lnTo>
                    <a:pt x="0" y="0"/>
                  </a:lnTo>
                  <a:lnTo>
                    <a:pt x="0" y="85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" name="WordArt 2"/>
            <p:cNvSpPr>
              <a:spLocks noChangeArrowheads="1" noChangeShapeType="1" noTextEdit="1"/>
            </p:cNvSpPr>
            <p:nvPr/>
          </p:nvSpPr>
          <p:spPr bwMode="auto">
            <a:xfrm>
              <a:off x="2787" y="1829"/>
              <a:ext cx="751" cy="28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rtl="0">
                <a:buNone/>
              </a:pPr>
              <a:r>
                <a:rPr lang="fr-FR" sz="3600" kern="10" spc="0" dirty="0" smtClean="0">
                  <a:ln w="19050">
                    <a:solidFill>
                      <a:srgbClr val="99CCFF"/>
                    </a:solidFill>
                    <a:round/>
                    <a:headEnd/>
                    <a:tailEnd/>
                  </a:ln>
                  <a:solidFill>
                    <a:srgbClr val="0066CC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Impact" panose="020B0806030902050204" pitchFamily="34" charset="0"/>
                </a:rPr>
                <a:t>I2C</a:t>
              </a:r>
              <a:endParaRPr lang="fr-FR" sz="3600" kern="10" spc="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27863859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390" y="5311521"/>
            <a:ext cx="4357046" cy="1573911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9" y="2538633"/>
            <a:ext cx="6426708" cy="2864328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552" y="746409"/>
            <a:ext cx="5324448" cy="3886962"/>
          </a:xfrm>
          <a:prstGeom prst="rect">
            <a:avLst/>
          </a:prstGeom>
        </p:spPr>
      </p:pic>
      <p:sp>
        <p:nvSpPr>
          <p:cNvPr id="10" name="Forme libre 9"/>
          <p:cNvSpPr/>
          <p:nvPr/>
        </p:nvSpPr>
        <p:spPr bwMode="auto">
          <a:xfrm>
            <a:off x="6446520" y="4251960"/>
            <a:ext cx="3895344" cy="1609344"/>
          </a:xfrm>
          <a:custGeom>
            <a:avLst/>
            <a:gdLst>
              <a:gd name="connsiteX0" fmla="*/ 3849624 w 3858768"/>
              <a:gd name="connsiteY0" fmla="*/ 0 h 1106424"/>
              <a:gd name="connsiteX1" fmla="*/ 3858768 w 3858768"/>
              <a:gd name="connsiteY1" fmla="*/ 1106424 h 1106424"/>
              <a:gd name="connsiteX2" fmla="*/ 0 w 3858768"/>
              <a:gd name="connsiteY2" fmla="*/ 1106424 h 1106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58768" h="1106424">
                <a:moveTo>
                  <a:pt x="3849624" y="0"/>
                </a:moveTo>
                <a:lnTo>
                  <a:pt x="3858768" y="1106424"/>
                </a:lnTo>
                <a:lnTo>
                  <a:pt x="0" y="1106424"/>
                </a:lnTo>
              </a:path>
            </a:pathLst>
          </a:cu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Forme libre 10"/>
          <p:cNvSpPr/>
          <p:nvPr/>
        </p:nvSpPr>
        <p:spPr bwMode="auto">
          <a:xfrm>
            <a:off x="6446520" y="4251960"/>
            <a:ext cx="3553968" cy="1810512"/>
          </a:xfrm>
          <a:custGeom>
            <a:avLst/>
            <a:gdLst>
              <a:gd name="connsiteX0" fmla="*/ 3849624 w 3858768"/>
              <a:gd name="connsiteY0" fmla="*/ 0 h 1106424"/>
              <a:gd name="connsiteX1" fmla="*/ 3858768 w 3858768"/>
              <a:gd name="connsiteY1" fmla="*/ 1106424 h 1106424"/>
              <a:gd name="connsiteX2" fmla="*/ 0 w 3858768"/>
              <a:gd name="connsiteY2" fmla="*/ 1106424 h 1106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58768" h="1106424">
                <a:moveTo>
                  <a:pt x="3849624" y="0"/>
                </a:moveTo>
                <a:lnTo>
                  <a:pt x="3858768" y="1106424"/>
                </a:lnTo>
                <a:lnTo>
                  <a:pt x="0" y="1106424"/>
                </a:lnTo>
              </a:path>
            </a:pathLst>
          </a:cu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Forme libre 11"/>
          <p:cNvSpPr/>
          <p:nvPr/>
        </p:nvSpPr>
        <p:spPr bwMode="auto">
          <a:xfrm>
            <a:off x="6446520" y="4251960"/>
            <a:ext cx="5117592" cy="2002536"/>
          </a:xfrm>
          <a:custGeom>
            <a:avLst/>
            <a:gdLst>
              <a:gd name="connsiteX0" fmla="*/ 3849624 w 3858768"/>
              <a:gd name="connsiteY0" fmla="*/ 0 h 1106424"/>
              <a:gd name="connsiteX1" fmla="*/ 3858768 w 3858768"/>
              <a:gd name="connsiteY1" fmla="*/ 1106424 h 1106424"/>
              <a:gd name="connsiteX2" fmla="*/ 0 w 3858768"/>
              <a:gd name="connsiteY2" fmla="*/ 1106424 h 1106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58768" h="1106424">
                <a:moveTo>
                  <a:pt x="3849624" y="0"/>
                </a:moveTo>
                <a:lnTo>
                  <a:pt x="3858768" y="1106424"/>
                </a:lnTo>
                <a:lnTo>
                  <a:pt x="0" y="1106424"/>
                </a:lnTo>
              </a:path>
            </a:pathLst>
          </a:custGeom>
          <a:noFill/>
          <a:ln w="57150">
            <a:solidFill>
              <a:srgbClr val="FFFF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orme libre 12"/>
          <p:cNvSpPr/>
          <p:nvPr/>
        </p:nvSpPr>
        <p:spPr bwMode="auto">
          <a:xfrm>
            <a:off x="6446520" y="4246070"/>
            <a:ext cx="5334000" cy="2227882"/>
          </a:xfrm>
          <a:custGeom>
            <a:avLst/>
            <a:gdLst>
              <a:gd name="connsiteX0" fmla="*/ 3849624 w 3858768"/>
              <a:gd name="connsiteY0" fmla="*/ 0 h 1106424"/>
              <a:gd name="connsiteX1" fmla="*/ 3858768 w 3858768"/>
              <a:gd name="connsiteY1" fmla="*/ 1106424 h 1106424"/>
              <a:gd name="connsiteX2" fmla="*/ 0 w 3858768"/>
              <a:gd name="connsiteY2" fmla="*/ 1106424 h 1106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58768" h="1106424">
                <a:moveTo>
                  <a:pt x="3849624" y="0"/>
                </a:moveTo>
                <a:lnTo>
                  <a:pt x="3858768" y="1106424"/>
                </a:lnTo>
                <a:lnTo>
                  <a:pt x="0" y="1106424"/>
                </a:lnTo>
              </a:path>
            </a:pathLst>
          </a:custGeom>
          <a:noFill/>
          <a:ln w="57150">
            <a:solidFill>
              <a:srgbClr val="33CC33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2965148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6960" y="673257"/>
            <a:ext cx="5324448" cy="3886962"/>
          </a:xfrm>
          <a:prstGeom prst="rect">
            <a:avLst/>
          </a:prstGeom>
        </p:spPr>
      </p:pic>
      <p:sp>
        <p:nvSpPr>
          <p:cNvPr id="10" name="Forme libre 9"/>
          <p:cNvSpPr/>
          <p:nvPr/>
        </p:nvSpPr>
        <p:spPr bwMode="auto">
          <a:xfrm>
            <a:off x="5814520" y="4178808"/>
            <a:ext cx="2076752" cy="694944"/>
          </a:xfrm>
          <a:custGeom>
            <a:avLst/>
            <a:gdLst>
              <a:gd name="connsiteX0" fmla="*/ 3849624 w 3858768"/>
              <a:gd name="connsiteY0" fmla="*/ 0 h 1106424"/>
              <a:gd name="connsiteX1" fmla="*/ 3858768 w 3858768"/>
              <a:gd name="connsiteY1" fmla="*/ 1106424 h 1106424"/>
              <a:gd name="connsiteX2" fmla="*/ 0 w 3858768"/>
              <a:gd name="connsiteY2" fmla="*/ 1106424 h 1106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58768" h="1106424">
                <a:moveTo>
                  <a:pt x="3849624" y="0"/>
                </a:moveTo>
                <a:lnTo>
                  <a:pt x="3858768" y="1106424"/>
                </a:lnTo>
                <a:lnTo>
                  <a:pt x="0" y="1106424"/>
                </a:lnTo>
              </a:path>
            </a:pathLst>
          </a:cu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Forme libre 10"/>
          <p:cNvSpPr/>
          <p:nvPr/>
        </p:nvSpPr>
        <p:spPr bwMode="auto">
          <a:xfrm>
            <a:off x="5814520" y="4178808"/>
            <a:ext cx="1735376" cy="832104"/>
          </a:xfrm>
          <a:custGeom>
            <a:avLst/>
            <a:gdLst>
              <a:gd name="connsiteX0" fmla="*/ 3849624 w 3858768"/>
              <a:gd name="connsiteY0" fmla="*/ 0 h 1106424"/>
              <a:gd name="connsiteX1" fmla="*/ 3858768 w 3858768"/>
              <a:gd name="connsiteY1" fmla="*/ 1106424 h 1106424"/>
              <a:gd name="connsiteX2" fmla="*/ 0 w 3858768"/>
              <a:gd name="connsiteY2" fmla="*/ 1106424 h 1106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58768" h="1106424">
                <a:moveTo>
                  <a:pt x="3849624" y="0"/>
                </a:moveTo>
                <a:lnTo>
                  <a:pt x="3858768" y="1106424"/>
                </a:lnTo>
                <a:lnTo>
                  <a:pt x="0" y="1106424"/>
                </a:lnTo>
              </a:path>
            </a:pathLst>
          </a:cu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Forme libre 11"/>
          <p:cNvSpPr/>
          <p:nvPr/>
        </p:nvSpPr>
        <p:spPr bwMode="auto">
          <a:xfrm>
            <a:off x="5814520" y="4178808"/>
            <a:ext cx="3299000" cy="960120"/>
          </a:xfrm>
          <a:custGeom>
            <a:avLst/>
            <a:gdLst>
              <a:gd name="connsiteX0" fmla="*/ 3849624 w 3858768"/>
              <a:gd name="connsiteY0" fmla="*/ 0 h 1106424"/>
              <a:gd name="connsiteX1" fmla="*/ 3858768 w 3858768"/>
              <a:gd name="connsiteY1" fmla="*/ 1106424 h 1106424"/>
              <a:gd name="connsiteX2" fmla="*/ 0 w 3858768"/>
              <a:gd name="connsiteY2" fmla="*/ 1106424 h 1106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58768" h="1106424">
                <a:moveTo>
                  <a:pt x="3849624" y="0"/>
                </a:moveTo>
                <a:lnTo>
                  <a:pt x="3858768" y="1106424"/>
                </a:lnTo>
                <a:lnTo>
                  <a:pt x="0" y="1106424"/>
                </a:lnTo>
              </a:path>
            </a:pathLst>
          </a:custGeom>
          <a:noFill/>
          <a:ln w="57150">
            <a:solidFill>
              <a:srgbClr val="FFFF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orme libre 12"/>
          <p:cNvSpPr/>
          <p:nvPr/>
        </p:nvSpPr>
        <p:spPr bwMode="auto">
          <a:xfrm>
            <a:off x="5814520" y="4172918"/>
            <a:ext cx="3515408" cy="1075738"/>
          </a:xfrm>
          <a:custGeom>
            <a:avLst/>
            <a:gdLst>
              <a:gd name="connsiteX0" fmla="*/ 3849624 w 3858768"/>
              <a:gd name="connsiteY0" fmla="*/ 0 h 1106424"/>
              <a:gd name="connsiteX1" fmla="*/ 3858768 w 3858768"/>
              <a:gd name="connsiteY1" fmla="*/ 1106424 h 1106424"/>
              <a:gd name="connsiteX2" fmla="*/ 0 w 3858768"/>
              <a:gd name="connsiteY2" fmla="*/ 1106424 h 1106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58768" h="1106424">
                <a:moveTo>
                  <a:pt x="3849624" y="0"/>
                </a:moveTo>
                <a:lnTo>
                  <a:pt x="3858768" y="1106424"/>
                </a:lnTo>
                <a:lnTo>
                  <a:pt x="0" y="1106424"/>
                </a:lnTo>
              </a:path>
            </a:pathLst>
          </a:custGeom>
          <a:noFill/>
          <a:ln w="57150">
            <a:solidFill>
              <a:srgbClr val="33CC33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6304" y="4562218"/>
            <a:ext cx="4058216" cy="183858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942308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632" y="0"/>
            <a:ext cx="5324448" cy="3886962"/>
          </a:xfrm>
          <a:prstGeom prst="rect">
            <a:avLst/>
          </a:prstGeom>
        </p:spPr>
      </p:pic>
      <p:sp>
        <p:nvSpPr>
          <p:cNvPr id="10" name="Forme libre 9"/>
          <p:cNvSpPr/>
          <p:nvPr/>
        </p:nvSpPr>
        <p:spPr bwMode="auto">
          <a:xfrm>
            <a:off x="8714232" y="3505551"/>
            <a:ext cx="960120" cy="1353312"/>
          </a:xfrm>
          <a:custGeom>
            <a:avLst/>
            <a:gdLst>
              <a:gd name="connsiteX0" fmla="*/ 3849624 w 3858768"/>
              <a:gd name="connsiteY0" fmla="*/ 0 h 1106424"/>
              <a:gd name="connsiteX1" fmla="*/ 3858768 w 3858768"/>
              <a:gd name="connsiteY1" fmla="*/ 1106424 h 1106424"/>
              <a:gd name="connsiteX2" fmla="*/ 0 w 3858768"/>
              <a:gd name="connsiteY2" fmla="*/ 1106424 h 1106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58768" h="1106424">
                <a:moveTo>
                  <a:pt x="3849624" y="0"/>
                </a:moveTo>
                <a:lnTo>
                  <a:pt x="3858768" y="1106424"/>
                </a:lnTo>
                <a:lnTo>
                  <a:pt x="0" y="1106424"/>
                </a:lnTo>
              </a:path>
            </a:pathLst>
          </a:cu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Forme libre 10"/>
          <p:cNvSpPr/>
          <p:nvPr/>
        </p:nvSpPr>
        <p:spPr bwMode="auto">
          <a:xfrm>
            <a:off x="8786106" y="3505551"/>
            <a:ext cx="711462" cy="1545336"/>
          </a:xfrm>
          <a:custGeom>
            <a:avLst/>
            <a:gdLst>
              <a:gd name="connsiteX0" fmla="*/ 3849624 w 3858768"/>
              <a:gd name="connsiteY0" fmla="*/ 0 h 1106424"/>
              <a:gd name="connsiteX1" fmla="*/ 3858768 w 3858768"/>
              <a:gd name="connsiteY1" fmla="*/ 1106424 h 1106424"/>
              <a:gd name="connsiteX2" fmla="*/ 0 w 3858768"/>
              <a:gd name="connsiteY2" fmla="*/ 1106424 h 1106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58768" h="1106424">
                <a:moveTo>
                  <a:pt x="3849624" y="0"/>
                </a:moveTo>
                <a:lnTo>
                  <a:pt x="3858768" y="1106424"/>
                </a:lnTo>
                <a:lnTo>
                  <a:pt x="0" y="1106424"/>
                </a:lnTo>
              </a:path>
            </a:pathLst>
          </a:cu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Forme libre 11"/>
          <p:cNvSpPr/>
          <p:nvPr/>
        </p:nvSpPr>
        <p:spPr bwMode="auto">
          <a:xfrm>
            <a:off x="8714232" y="3505551"/>
            <a:ext cx="2346960" cy="1728216"/>
          </a:xfrm>
          <a:custGeom>
            <a:avLst/>
            <a:gdLst>
              <a:gd name="connsiteX0" fmla="*/ 3849624 w 3858768"/>
              <a:gd name="connsiteY0" fmla="*/ 0 h 1106424"/>
              <a:gd name="connsiteX1" fmla="*/ 3858768 w 3858768"/>
              <a:gd name="connsiteY1" fmla="*/ 1106424 h 1106424"/>
              <a:gd name="connsiteX2" fmla="*/ 0 w 3858768"/>
              <a:gd name="connsiteY2" fmla="*/ 1106424 h 1106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58768" h="1106424">
                <a:moveTo>
                  <a:pt x="3849624" y="0"/>
                </a:moveTo>
                <a:lnTo>
                  <a:pt x="3858768" y="1106424"/>
                </a:lnTo>
                <a:lnTo>
                  <a:pt x="0" y="1106424"/>
                </a:lnTo>
              </a:path>
            </a:pathLst>
          </a:custGeom>
          <a:noFill/>
          <a:ln w="57150">
            <a:solidFill>
              <a:srgbClr val="FFFF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orme libre 12"/>
          <p:cNvSpPr/>
          <p:nvPr/>
        </p:nvSpPr>
        <p:spPr bwMode="auto">
          <a:xfrm>
            <a:off x="8714232" y="3499661"/>
            <a:ext cx="2563368" cy="1889554"/>
          </a:xfrm>
          <a:custGeom>
            <a:avLst/>
            <a:gdLst>
              <a:gd name="connsiteX0" fmla="*/ 3849624 w 3858768"/>
              <a:gd name="connsiteY0" fmla="*/ 0 h 1106424"/>
              <a:gd name="connsiteX1" fmla="*/ 3858768 w 3858768"/>
              <a:gd name="connsiteY1" fmla="*/ 1106424 h 1106424"/>
              <a:gd name="connsiteX2" fmla="*/ 0 w 3858768"/>
              <a:gd name="connsiteY2" fmla="*/ 1106424 h 1106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58768" h="1106424">
                <a:moveTo>
                  <a:pt x="3849624" y="0"/>
                </a:moveTo>
                <a:lnTo>
                  <a:pt x="3858768" y="1106424"/>
                </a:lnTo>
                <a:lnTo>
                  <a:pt x="0" y="1106424"/>
                </a:lnTo>
              </a:path>
            </a:pathLst>
          </a:custGeom>
          <a:noFill/>
          <a:ln w="57150">
            <a:solidFill>
              <a:srgbClr val="33CC33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093" y="3886962"/>
            <a:ext cx="5685013" cy="3101609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9046631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4"/>
          <p:cNvSpPr>
            <a:spLocks noChangeAspect="1" noChangeArrowheads="1" noTextEdit="1"/>
          </p:cNvSpPr>
          <p:nvPr/>
        </p:nvSpPr>
        <p:spPr bwMode="auto">
          <a:xfrm>
            <a:off x="1500166" y="113288"/>
            <a:ext cx="3740150" cy="65976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" name="Text Box 32"/>
          <p:cNvSpPr txBox="1">
            <a:spLocks noChangeArrowheads="1"/>
          </p:cNvSpPr>
          <p:nvPr/>
        </p:nvSpPr>
        <p:spPr bwMode="auto">
          <a:xfrm>
            <a:off x="1733846" y="525403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Calibri" pitchFamily="34" charset="0"/>
                <a:cs typeface="Times New Roman" pitchFamily="18" charset="0"/>
              </a:rPr>
              <a:t>0</a:t>
            </a:r>
            <a:endParaRPr kumimoji="0" lang="fr-F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 Box 31"/>
          <p:cNvSpPr txBox="1">
            <a:spLocks noChangeArrowheads="1"/>
          </p:cNvSpPr>
          <p:nvPr/>
        </p:nvSpPr>
        <p:spPr bwMode="auto">
          <a:xfrm>
            <a:off x="1733846" y="915293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Calibri" pitchFamily="34" charset="0"/>
                <a:cs typeface="Times New Roman" pitchFamily="18" charset="0"/>
              </a:rPr>
              <a:t>1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 Box 30"/>
          <p:cNvSpPr txBox="1">
            <a:spLocks noChangeArrowheads="1"/>
          </p:cNvSpPr>
          <p:nvPr/>
        </p:nvSpPr>
        <p:spPr bwMode="auto">
          <a:xfrm>
            <a:off x="1733846" y="1305183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Calibri" pitchFamily="34" charset="0"/>
                <a:cs typeface="Times New Roman" pitchFamily="18" charset="0"/>
              </a:rPr>
              <a:t>2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 Box 29"/>
          <p:cNvSpPr txBox="1">
            <a:spLocks noChangeArrowheads="1"/>
          </p:cNvSpPr>
          <p:nvPr/>
        </p:nvSpPr>
        <p:spPr bwMode="auto">
          <a:xfrm>
            <a:off x="1733846" y="1695073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Calibri" pitchFamily="34" charset="0"/>
                <a:cs typeface="Times New Roman" pitchFamily="18" charset="0"/>
              </a:rPr>
              <a:t>3</a:t>
            </a:r>
            <a:endParaRPr kumimoji="0" lang="fr-F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 Box 28"/>
          <p:cNvSpPr txBox="1">
            <a:spLocks noChangeArrowheads="1"/>
          </p:cNvSpPr>
          <p:nvPr/>
        </p:nvSpPr>
        <p:spPr bwMode="auto">
          <a:xfrm>
            <a:off x="1733846" y="2085598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Calibri" pitchFamily="34" charset="0"/>
                <a:cs typeface="Times New Roman" pitchFamily="18" charset="0"/>
              </a:rPr>
              <a:t>4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 Box 27"/>
          <p:cNvSpPr txBox="1">
            <a:spLocks noChangeArrowheads="1"/>
          </p:cNvSpPr>
          <p:nvPr/>
        </p:nvSpPr>
        <p:spPr bwMode="auto">
          <a:xfrm>
            <a:off x="1733846" y="2476123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Calibri" pitchFamily="34" charset="0"/>
                <a:cs typeface="Times New Roman" pitchFamily="18" charset="0"/>
              </a:rPr>
              <a:t>5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 Box 26"/>
          <p:cNvSpPr txBox="1">
            <a:spLocks noChangeArrowheads="1"/>
          </p:cNvSpPr>
          <p:nvPr/>
        </p:nvSpPr>
        <p:spPr bwMode="auto">
          <a:xfrm>
            <a:off x="1733846" y="2865378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Calibri" pitchFamily="34" charset="0"/>
                <a:cs typeface="Times New Roman" pitchFamily="18" charset="0"/>
              </a:rPr>
              <a:t>6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 Box 25"/>
          <p:cNvSpPr txBox="1">
            <a:spLocks noChangeArrowheads="1"/>
          </p:cNvSpPr>
          <p:nvPr/>
        </p:nvSpPr>
        <p:spPr bwMode="auto">
          <a:xfrm>
            <a:off x="1733211" y="3255268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Calibri" pitchFamily="34" charset="0"/>
                <a:cs typeface="Times New Roman" pitchFamily="18" charset="0"/>
              </a:rPr>
              <a:t>7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 Box 24"/>
          <p:cNvSpPr txBox="1">
            <a:spLocks noChangeArrowheads="1"/>
          </p:cNvSpPr>
          <p:nvPr/>
        </p:nvSpPr>
        <p:spPr bwMode="auto">
          <a:xfrm>
            <a:off x="1733846" y="3645793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Calibri" pitchFamily="34" charset="0"/>
                <a:cs typeface="Times New Roman" pitchFamily="18" charset="0"/>
              </a:rPr>
              <a:t>8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Text Box 23"/>
          <p:cNvSpPr txBox="1">
            <a:spLocks noChangeArrowheads="1"/>
          </p:cNvSpPr>
          <p:nvPr/>
        </p:nvSpPr>
        <p:spPr bwMode="auto">
          <a:xfrm>
            <a:off x="1733846" y="4035683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Calibri" pitchFamily="34" charset="0"/>
                <a:cs typeface="Times New Roman" pitchFamily="18" charset="0"/>
              </a:rPr>
              <a:t>9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 Box 22"/>
          <p:cNvSpPr txBox="1">
            <a:spLocks noChangeArrowheads="1"/>
          </p:cNvSpPr>
          <p:nvPr/>
        </p:nvSpPr>
        <p:spPr bwMode="auto">
          <a:xfrm>
            <a:off x="1733846" y="4426208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Calibri" pitchFamily="34" charset="0"/>
                <a:cs typeface="Times New Roman" pitchFamily="18" charset="0"/>
              </a:rPr>
              <a:t>A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Text Box 21"/>
          <p:cNvSpPr txBox="1">
            <a:spLocks noChangeArrowheads="1"/>
          </p:cNvSpPr>
          <p:nvPr/>
        </p:nvSpPr>
        <p:spPr bwMode="auto">
          <a:xfrm>
            <a:off x="1733846" y="4815463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Calibri" pitchFamily="34" charset="0"/>
                <a:cs typeface="Times New Roman" pitchFamily="18" charset="0"/>
              </a:rPr>
              <a:t>B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 Box 20"/>
          <p:cNvSpPr txBox="1">
            <a:spLocks noChangeArrowheads="1"/>
          </p:cNvSpPr>
          <p:nvPr/>
        </p:nvSpPr>
        <p:spPr bwMode="auto">
          <a:xfrm>
            <a:off x="1733846" y="5205988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Calibri" pitchFamily="34" charset="0"/>
                <a:cs typeface="Times New Roman" pitchFamily="18" charset="0"/>
              </a:rPr>
              <a:t>C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Text Box 19"/>
          <p:cNvSpPr txBox="1">
            <a:spLocks noChangeArrowheads="1"/>
          </p:cNvSpPr>
          <p:nvPr/>
        </p:nvSpPr>
        <p:spPr bwMode="auto">
          <a:xfrm>
            <a:off x="1733846" y="5596513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Calibri" pitchFamily="34" charset="0"/>
                <a:cs typeface="Times New Roman" pitchFamily="18" charset="0"/>
              </a:rPr>
              <a:t>D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Text Box 18"/>
          <p:cNvSpPr txBox="1">
            <a:spLocks noChangeArrowheads="1"/>
          </p:cNvSpPr>
          <p:nvPr/>
        </p:nvSpPr>
        <p:spPr bwMode="auto">
          <a:xfrm>
            <a:off x="1733846" y="5985768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Calibri" pitchFamily="34" charset="0"/>
                <a:cs typeface="Times New Roman" pitchFamily="18" charset="0"/>
              </a:rPr>
              <a:t>E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Text Box 17"/>
          <p:cNvSpPr txBox="1">
            <a:spLocks noChangeArrowheads="1"/>
          </p:cNvSpPr>
          <p:nvPr/>
        </p:nvSpPr>
        <p:spPr bwMode="auto">
          <a:xfrm>
            <a:off x="1733211" y="6376293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Calibri" pitchFamily="34" charset="0"/>
                <a:cs typeface="Times New Roman" pitchFamily="18" charset="0"/>
              </a:rPr>
              <a:t>F</a:t>
            </a:r>
            <a:endParaRPr kumimoji="0" lang="fr-F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 Box 16"/>
          <p:cNvSpPr txBox="1">
            <a:spLocks noChangeArrowheads="1"/>
          </p:cNvSpPr>
          <p:nvPr/>
        </p:nvSpPr>
        <p:spPr bwMode="auto">
          <a:xfrm>
            <a:off x="7241626" y="524457"/>
            <a:ext cx="9137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2</a:t>
            </a:r>
            <a:endParaRPr kumimoji="0" lang="fr-F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 Box 15"/>
          <p:cNvSpPr txBox="1">
            <a:spLocks noChangeArrowheads="1"/>
          </p:cNvSpPr>
          <p:nvPr/>
        </p:nvSpPr>
        <p:spPr bwMode="auto">
          <a:xfrm>
            <a:off x="7501266" y="524457"/>
            <a:ext cx="9137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3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Text Box 14"/>
          <p:cNvSpPr txBox="1">
            <a:spLocks noChangeArrowheads="1"/>
          </p:cNvSpPr>
          <p:nvPr/>
        </p:nvSpPr>
        <p:spPr bwMode="auto">
          <a:xfrm>
            <a:off x="7760906" y="524457"/>
            <a:ext cx="9137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4</a:t>
            </a:r>
            <a:endParaRPr kumimoji="0" lang="fr-F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Text Box 13"/>
          <p:cNvSpPr txBox="1">
            <a:spLocks noChangeArrowheads="1"/>
          </p:cNvSpPr>
          <p:nvPr/>
        </p:nvSpPr>
        <p:spPr bwMode="auto">
          <a:xfrm>
            <a:off x="8020546" y="524457"/>
            <a:ext cx="9137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5</a:t>
            </a:r>
            <a:endParaRPr kumimoji="0" lang="fr-F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5" name="Text Box 12"/>
          <p:cNvSpPr txBox="1">
            <a:spLocks noChangeArrowheads="1"/>
          </p:cNvSpPr>
          <p:nvPr/>
        </p:nvSpPr>
        <p:spPr bwMode="auto">
          <a:xfrm>
            <a:off x="8280186" y="524457"/>
            <a:ext cx="9137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6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8539826" y="524457"/>
            <a:ext cx="9137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7</a:t>
            </a:r>
            <a:endParaRPr kumimoji="0" lang="fr-F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7" name="Text Box 10"/>
          <p:cNvSpPr txBox="1">
            <a:spLocks noChangeArrowheads="1"/>
          </p:cNvSpPr>
          <p:nvPr/>
        </p:nvSpPr>
        <p:spPr bwMode="auto">
          <a:xfrm>
            <a:off x="9318746" y="524457"/>
            <a:ext cx="109004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A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8" name="Text Box 9"/>
          <p:cNvSpPr txBox="1">
            <a:spLocks noChangeArrowheads="1"/>
          </p:cNvSpPr>
          <p:nvPr/>
        </p:nvSpPr>
        <p:spPr bwMode="auto">
          <a:xfrm>
            <a:off x="9596018" y="524457"/>
            <a:ext cx="10099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B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9" name="Text Box 8"/>
          <p:cNvSpPr txBox="1">
            <a:spLocks noChangeArrowheads="1"/>
          </p:cNvSpPr>
          <p:nvPr/>
        </p:nvSpPr>
        <p:spPr bwMode="auto">
          <a:xfrm>
            <a:off x="9865276" y="524457"/>
            <a:ext cx="92974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C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0" name="Text Box 7"/>
          <p:cNvSpPr txBox="1">
            <a:spLocks noChangeArrowheads="1"/>
          </p:cNvSpPr>
          <p:nvPr/>
        </p:nvSpPr>
        <p:spPr bwMode="auto">
          <a:xfrm>
            <a:off x="10126518" y="524457"/>
            <a:ext cx="113814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D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Text Box 6"/>
          <p:cNvSpPr txBox="1">
            <a:spLocks noChangeArrowheads="1"/>
          </p:cNvSpPr>
          <p:nvPr/>
        </p:nvSpPr>
        <p:spPr bwMode="auto">
          <a:xfrm>
            <a:off x="10408600" y="524457"/>
            <a:ext cx="8816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E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2" name="Text Box 5"/>
          <p:cNvSpPr txBox="1">
            <a:spLocks noChangeArrowheads="1"/>
          </p:cNvSpPr>
          <p:nvPr/>
        </p:nvSpPr>
        <p:spPr bwMode="auto">
          <a:xfrm>
            <a:off x="10665034" y="524457"/>
            <a:ext cx="81754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F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3" name="Line 4"/>
          <p:cNvSpPr>
            <a:spLocks noChangeShapeType="1"/>
          </p:cNvSpPr>
          <p:nvPr/>
        </p:nvSpPr>
        <p:spPr bwMode="auto">
          <a:xfrm flipH="1" flipV="1">
            <a:off x="1589701" y="221873"/>
            <a:ext cx="305435" cy="23304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34" name="Text Box 3"/>
          <p:cNvSpPr txBox="1">
            <a:spLocks noChangeArrowheads="1"/>
          </p:cNvSpPr>
          <p:nvPr/>
        </p:nvSpPr>
        <p:spPr bwMode="auto">
          <a:xfrm>
            <a:off x="1500166" y="284103"/>
            <a:ext cx="233045" cy="1708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100" b="0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Low</a:t>
            </a:r>
            <a:endParaRPr kumimoji="0" lang="fr-F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5" name="Text Box 2"/>
          <p:cNvSpPr txBox="1">
            <a:spLocks noChangeArrowheads="1"/>
          </p:cNvSpPr>
          <p:nvPr/>
        </p:nvSpPr>
        <p:spPr bwMode="auto">
          <a:xfrm>
            <a:off x="1669076" y="113288"/>
            <a:ext cx="251460" cy="167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100" b="0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High</a:t>
            </a:r>
            <a:endParaRPr kumimoji="0" lang="fr-F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7" name="Text Box 32"/>
          <p:cNvSpPr txBox="1">
            <a:spLocks noChangeArrowheads="1"/>
          </p:cNvSpPr>
          <p:nvPr/>
        </p:nvSpPr>
        <p:spPr bwMode="auto">
          <a:xfrm>
            <a:off x="6736580" y="848284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Calibri" pitchFamily="34" charset="0"/>
                <a:cs typeface="Times New Roman" pitchFamily="18" charset="0"/>
              </a:rPr>
              <a:t>0</a:t>
            </a:r>
            <a:endParaRPr kumimoji="0" lang="fr-F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8" name="Text Box 31"/>
          <p:cNvSpPr txBox="1">
            <a:spLocks noChangeArrowheads="1"/>
          </p:cNvSpPr>
          <p:nvPr/>
        </p:nvSpPr>
        <p:spPr bwMode="auto">
          <a:xfrm>
            <a:off x="6743565" y="1183794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Calibri" pitchFamily="34" charset="0"/>
                <a:cs typeface="Times New Roman" pitchFamily="18" charset="0"/>
              </a:rPr>
              <a:t>1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9" name="Text Box 30"/>
          <p:cNvSpPr txBox="1">
            <a:spLocks noChangeArrowheads="1"/>
          </p:cNvSpPr>
          <p:nvPr/>
        </p:nvSpPr>
        <p:spPr bwMode="auto">
          <a:xfrm>
            <a:off x="6743565" y="1515494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Calibri" pitchFamily="34" charset="0"/>
                <a:cs typeface="Times New Roman" pitchFamily="18" charset="0"/>
              </a:rPr>
              <a:t>2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0" name="Text Box 29"/>
          <p:cNvSpPr txBox="1">
            <a:spLocks noChangeArrowheads="1"/>
          </p:cNvSpPr>
          <p:nvPr/>
        </p:nvSpPr>
        <p:spPr bwMode="auto">
          <a:xfrm>
            <a:off x="6743565" y="1847194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Calibri" pitchFamily="34" charset="0"/>
                <a:cs typeface="Times New Roman" pitchFamily="18" charset="0"/>
              </a:rPr>
              <a:t>3</a:t>
            </a:r>
            <a:endParaRPr kumimoji="0" lang="fr-F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1" name="Text Box 28"/>
          <p:cNvSpPr txBox="1">
            <a:spLocks noChangeArrowheads="1"/>
          </p:cNvSpPr>
          <p:nvPr/>
        </p:nvSpPr>
        <p:spPr bwMode="auto">
          <a:xfrm>
            <a:off x="6743565" y="2178894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Calibri" pitchFamily="34" charset="0"/>
                <a:cs typeface="Times New Roman" pitchFamily="18" charset="0"/>
              </a:rPr>
              <a:t>4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2" name="Text Box 27"/>
          <p:cNvSpPr txBox="1">
            <a:spLocks noChangeArrowheads="1"/>
          </p:cNvSpPr>
          <p:nvPr/>
        </p:nvSpPr>
        <p:spPr bwMode="auto">
          <a:xfrm>
            <a:off x="6743565" y="2510594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Calibri" pitchFamily="34" charset="0"/>
                <a:cs typeface="Times New Roman" pitchFamily="18" charset="0"/>
              </a:rPr>
              <a:t>5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3" name="Text Box 26"/>
          <p:cNvSpPr txBox="1">
            <a:spLocks noChangeArrowheads="1"/>
          </p:cNvSpPr>
          <p:nvPr/>
        </p:nvSpPr>
        <p:spPr bwMode="auto">
          <a:xfrm>
            <a:off x="6736580" y="2842294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Calibri" pitchFamily="34" charset="0"/>
                <a:cs typeface="Times New Roman" pitchFamily="18" charset="0"/>
              </a:rPr>
              <a:t>6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4" name="Text Box 25"/>
          <p:cNvSpPr txBox="1">
            <a:spLocks noChangeArrowheads="1"/>
          </p:cNvSpPr>
          <p:nvPr/>
        </p:nvSpPr>
        <p:spPr bwMode="auto">
          <a:xfrm>
            <a:off x="6736580" y="3177804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Calibri" pitchFamily="34" charset="0"/>
                <a:cs typeface="Times New Roman" pitchFamily="18" charset="0"/>
              </a:rPr>
              <a:t>7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5" name="Text Box 24"/>
          <p:cNvSpPr txBox="1">
            <a:spLocks noChangeArrowheads="1"/>
          </p:cNvSpPr>
          <p:nvPr/>
        </p:nvSpPr>
        <p:spPr bwMode="auto">
          <a:xfrm>
            <a:off x="6743565" y="3513314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Calibri" pitchFamily="34" charset="0"/>
                <a:cs typeface="Times New Roman" pitchFamily="18" charset="0"/>
              </a:rPr>
              <a:t>8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6" name="Text Box 23"/>
          <p:cNvSpPr txBox="1">
            <a:spLocks noChangeArrowheads="1"/>
          </p:cNvSpPr>
          <p:nvPr/>
        </p:nvSpPr>
        <p:spPr bwMode="auto">
          <a:xfrm>
            <a:off x="6743565" y="3845014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Calibri" pitchFamily="34" charset="0"/>
                <a:cs typeface="Times New Roman" pitchFamily="18" charset="0"/>
              </a:rPr>
              <a:t>9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7" name="Text Box 22"/>
          <p:cNvSpPr txBox="1">
            <a:spLocks noChangeArrowheads="1"/>
          </p:cNvSpPr>
          <p:nvPr/>
        </p:nvSpPr>
        <p:spPr bwMode="auto">
          <a:xfrm>
            <a:off x="6743565" y="4176714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Calibri" pitchFamily="34" charset="0"/>
                <a:cs typeface="Times New Roman" pitchFamily="18" charset="0"/>
              </a:rPr>
              <a:t>A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8" name="Text Box 21"/>
          <p:cNvSpPr txBox="1">
            <a:spLocks noChangeArrowheads="1"/>
          </p:cNvSpPr>
          <p:nvPr/>
        </p:nvSpPr>
        <p:spPr bwMode="auto">
          <a:xfrm>
            <a:off x="6743565" y="4508414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Calibri" pitchFamily="34" charset="0"/>
                <a:cs typeface="Times New Roman" pitchFamily="18" charset="0"/>
              </a:rPr>
              <a:t>B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9" name="Text Box 20"/>
          <p:cNvSpPr txBox="1">
            <a:spLocks noChangeArrowheads="1"/>
          </p:cNvSpPr>
          <p:nvPr/>
        </p:nvSpPr>
        <p:spPr bwMode="auto">
          <a:xfrm>
            <a:off x="6737850" y="4840114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Calibri" pitchFamily="34" charset="0"/>
                <a:cs typeface="Times New Roman" pitchFamily="18" charset="0"/>
              </a:rPr>
              <a:t>C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0" name="Text Box 19"/>
          <p:cNvSpPr txBox="1">
            <a:spLocks noChangeArrowheads="1"/>
          </p:cNvSpPr>
          <p:nvPr/>
        </p:nvSpPr>
        <p:spPr bwMode="auto">
          <a:xfrm>
            <a:off x="6743565" y="5171814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Calibri" pitchFamily="34" charset="0"/>
                <a:cs typeface="Times New Roman" pitchFamily="18" charset="0"/>
              </a:rPr>
              <a:t>D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1" name="Text Box 18"/>
          <p:cNvSpPr txBox="1">
            <a:spLocks noChangeArrowheads="1"/>
          </p:cNvSpPr>
          <p:nvPr/>
        </p:nvSpPr>
        <p:spPr bwMode="auto">
          <a:xfrm>
            <a:off x="6736580" y="5503514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Calibri" pitchFamily="34" charset="0"/>
                <a:cs typeface="Times New Roman" pitchFamily="18" charset="0"/>
              </a:rPr>
              <a:t>E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2" name="Text Box 17"/>
          <p:cNvSpPr txBox="1">
            <a:spLocks noChangeArrowheads="1"/>
          </p:cNvSpPr>
          <p:nvPr/>
        </p:nvSpPr>
        <p:spPr bwMode="auto">
          <a:xfrm>
            <a:off x="6736580" y="5839019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Calibri" pitchFamily="34" charset="0"/>
                <a:cs typeface="Times New Roman" pitchFamily="18" charset="0"/>
              </a:rPr>
              <a:t>F</a:t>
            </a:r>
            <a:endParaRPr kumimoji="0" lang="fr-F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79472" y="761247"/>
            <a:ext cx="3981450" cy="539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4" name="Text Box 16"/>
          <p:cNvSpPr txBox="1">
            <a:spLocks noChangeArrowheads="1"/>
          </p:cNvSpPr>
          <p:nvPr/>
        </p:nvSpPr>
        <p:spPr bwMode="auto">
          <a:xfrm>
            <a:off x="6973894" y="532549"/>
            <a:ext cx="9137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1400" b="1" i="1" dirty="0" smtClean="0">
                <a:solidFill>
                  <a:srgbClr val="FF0000"/>
                </a:solidFill>
                <a:latin typeface="Calibri" pitchFamily="34" charset="0"/>
                <a:cs typeface="Times New Roman" pitchFamily="18" charset="0"/>
              </a:rPr>
              <a:t>1</a:t>
            </a:r>
            <a:endParaRPr kumimoji="0" lang="fr-F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5" name="Text Box 11"/>
          <p:cNvSpPr txBox="1">
            <a:spLocks noChangeArrowheads="1"/>
          </p:cNvSpPr>
          <p:nvPr/>
        </p:nvSpPr>
        <p:spPr bwMode="auto">
          <a:xfrm>
            <a:off x="8799466" y="524457"/>
            <a:ext cx="9137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1400" b="1" i="1" dirty="0" smtClean="0">
                <a:solidFill>
                  <a:srgbClr val="FF0000"/>
                </a:solidFill>
                <a:latin typeface="Calibri" pitchFamily="34" charset="0"/>
                <a:cs typeface="Times New Roman" pitchFamily="18" charset="0"/>
              </a:rPr>
              <a:t>8</a:t>
            </a:r>
            <a:endParaRPr kumimoji="0" lang="fr-F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6" name="Text Box 11"/>
          <p:cNvSpPr txBox="1">
            <a:spLocks noChangeArrowheads="1"/>
          </p:cNvSpPr>
          <p:nvPr/>
        </p:nvSpPr>
        <p:spPr bwMode="auto">
          <a:xfrm>
            <a:off x="9059106" y="524457"/>
            <a:ext cx="9137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1400" b="1" i="1" dirty="0" smtClean="0">
                <a:solidFill>
                  <a:srgbClr val="FF0000"/>
                </a:solidFill>
                <a:latin typeface="Calibri" pitchFamily="34" charset="0"/>
                <a:cs typeface="Times New Roman" pitchFamily="18" charset="0"/>
              </a:rPr>
              <a:t>9</a:t>
            </a:r>
            <a:endParaRPr kumimoji="0" lang="fr-F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8" name="Line 4"/>
          <p:cNvSpPr>
            <a:spLocks noChangeShapeType="1"/>
          </p:cNvSpPr>
          <p:nvPr/>
        </p:nvSpPr>
        <p:spPr bwMode="auto">
          <a:xfrm flipH="1" flipV="1">
            <a:off x="6589230" y="544206"/>
            <a:ext cx="305435" cy="23304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9" name="Text Box 3"/>
          <p:cNvSpPr txBox="1">
            <a:spLocks noChangeArrowheads="1"/>
          </p:cNvSpPr>
          <p:nvPr/>
        </p:nvSpPr>
        <p:spPr bwMode="auto">
          <a:xfrm>
            <a:off x="6499695" y="606436"/>
            <a:ext cx="233045" cy="1708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100" b="0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Low</a:t>
            </a:r>
            <a:endParaRPr kumimoji="0" lang="fr-F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 Box 2"/>
          <p:cNvSpPr txBox="1">
            <a:spLocks noChangeArrowheads="1"/>
          </p:cNvSpPr>
          <p:nvPr/>
        </p:nvSpPr>
        <p:spPr bwMode="auto">
          <a:xfrm>
            <a:off x="6668605" y="435621"/>
            <a:ext cx="251460" cy="167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100" b="0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High</a:t>
            </a:r>
            <a:endParaRPr kumimoji="0" lang="fr-F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76130" y="447212"/>
            <a:ext cx="4308520" cy="62368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2" name="Text Box 16"/>
          <p:cNvSpPr txBox="1">
            <a:spLocks noChangeArrowheads="1"/>
          </p:cNvSpPr>
          <p:nvPr/>
        </p:nvSpPr>
        <p:spPr bwMode="auto">
          <a:xfrm>
            <a:off x="2046540" y="192683"/>
            <a:ext cx="9137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2</a:t>
            </a:r>
            <a:endParaRPr kumimoji="0" lang="fr-F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3" name="Text Box 15"/>
          <p:cNvSpPr txBox="1">
            <a:spLocks noChangeArrowheads="1"/>
          </p:cNvSpPr>
          <p:nvPr/>
        </p:nvSpPr>
        <p:spPr bwMode="auto">
          <a:xfrm>
            <a:off x="2343528" y="192683"/>
            <a:ext cx="9137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3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4" name="Text Box 14"/>
          <p:cNvSpPr txBox="1">
            <a:spLocks noChangeArrowheads="1"/>
          </p:cNvSpPr>
          <p:nvPr/>
        </p:nvSpPr>
        <p:spPr bwMode="auto">
          <a:xfrm>
            <a:off x="2640516" y="192683"/>
            <a:ext cx="9137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4</a:t>
            </a:r>
            <a:endParaRPr kumimoji="0" lang="fr-F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5" name="Text Box 13"/>
          <p:cNvSpPr txBox="1">
            <a:spLocks noChangeArrowheads="1"/>
          </p:cNvSpPr>
          <p:nvPr/>
        </p:nvSpPr>
        <p:spPr bwMode="auto">
          <a:xfrm>
            <a:off x="2937504" y="192683"/>
            <a:ext cx="9137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5</a:t>
            </a:r>
            <a:endParaRPr kumimoji="0" lang="fr-F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6" name="Text Box 12"/>
          <p:cNvSpPr txBox="1">
            <a:spLocks noChangeArrowheads="1"/>
          </p:cNvSpPr>
          <p:nvPr/>
        </p:nvSpPr>
        <p:spPr bwMode="auto">
          <a:xfrm>
            <a:off x="3234492" y="192683"/>
            <a:ext cx="9137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6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7" name="Text Box 11"/>
          <p:cNvSpPr txBox="1">
            <a:spLocks noChangeArrowheads="1"/>
          </p:cNvSpPr>
          <p:nvPr/>
        </p:nvSpPr>
        <p:spPr bwMode="auto">
          <a:xfrm>
            <a:off x="3531480" y="192683"/>
            <a:ext cx="9137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7</a:t>
            </a:r>
            <a:endParaRPr kumimoji="0" lang="fr-F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8" name="Text Box 10"/>
          <p:cNvSpPr txBox="1">
            <a:spLocks noChangeArrowheads="1"/>
          </p:cNvSpPr>
          <p:nvPr/>
        </p:nvSpPr>
        <p:spPr bwMode="auto">
          <a:xfrm>
            <a:off x="4422444" y="192683"/>
            <a:ext cx="109004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A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9" name="Text Box 9"/>
          <p:cNvSpPr txBox="1">
            <a:spLocks noChangeArrowheads="1"/>
          </p:cNvSpPr>
          <p:nvPr/>
        </p:nvSpPr>
        <p:spPr bwMode="auto">
          <a:xfrm>
            <a:off x="4737064" y="192683"/>
            <a:ext cx="10099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B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0" name="Text Box 8"/>
          <p:cNvSpPr txBox="1">
            <a:spLocks noChangeArrowheads="1"/>
          </p:cNvSpPr>
          <p:nvPr/>
        </p:nvSpPr>
        <p:spPr bwMode="auto">
          <a:xfrm>
            <a:off x="5043670" y="192683"/>
            <a:ext cx="92974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C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1" name="Text Box 7"/>
          <p:cNvSpPr txBox="1">
            <a:spLocks noChangeArrowheads="1"/>
          </p:cNvSpPr>
          <p:nvPr/>
        </p:nvSpPr>
        <p:spPr bwMode="auto">
          <a:xfrm>
            <a:off x="5342260" y="192683"/>
            <a:ext cx="113814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D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2" name="Text Box 6"/>
          <p:cNvSpPr txBox="1">
            <a:spLocks noChangeArrowheads="1"/>
          </p:cNvSpPr>
          <p:nvPr/>
        </p:nvSpPr>
        <p:spPr bwMode="auto">
          <a:xfrm>
            <a:off x="5661690" y="192683"/>
            <a:ext cx="8816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E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3" name="Text Box 5"/>
          <p:cNvSpPr txBox="1">
            <a:spLocks noChangeArrowheads="1"/>
          </p:cNvSpPr>
          <p:nvPr/>
        </p:nvSpPr>
        <p:spPr bwMode="auto">
          <a:xfrm>
            <a:off x="5955468" y="200775"/>
            <a:ext cx="81754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F</a:t>
            </a:r>
            <a:endParaRPr kumimoji="0" lang="fr-F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4" name="Text Box 11"/>
          <p:cNvSpPr txBox="1">
            <a:spLocks noChangeArrowheads="1"/>
          </p:cNvSpPr>
          <p:nvPr/>
        </p:nvSpPr>
        <p:spPr bwMode="auto">
          <a:xfrm>
            <a:off x="3828468" y="192683"/>
            <a:ext cx="9137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1400" b="1" i="1" dirty="0" smtClean="0">
                <a:solidFill>
                  <a:srgbClr val="FF0000"/>
                </a:solidFill>
                <a:latin typeface="Calibri" pitchFamily="34" charset="0"/>
                <a:cs typeface="Times New Roman" pitchFamily="18" charset="0"/>
              </a:rPr>
              <a:t>8</a:t>
            </a:r>
            <a:endParaRPr kumimoji="0" lang="fr-F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5" name="Text Box 11"/>
          <p:cNvSpPr txBox="1">
            <a:spLocks noChangeArrowheads="1"/>
          </p:cNvSpPr>
          <p:nvPr/>
        </p:nvSpPr>
        <p:spPr bwMode="auto">
          <a:xfrm>
            <a:off x="4125456" y="192683"/>
            <a:ext cx="9137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1400" b="1" i="1" dirty="0" smtClean="0">
                <a:solidFill>
                  <a:srgbClr val="FF0000"/>
                </a:solidFill>
                <a:latin typeface="Calibri" pitchFamily="34" charset="0"/>
                <a:cs typeface="Times New Roman" pitchFamily="18" charset="0"/>
              </a:rPr>
              <a:t>9</a:t>
            </a:r>
            <a:endParaRPr kumimoji="0" lang="fr-F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77104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64050" y="1006475"/>
            <a:ext cx="3263900" cy="484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 Box 16"/>
          <p:cNvSpPr txBox="1">
            <a:spLocks noChangeArrowheads="1"/>
          </p:cNvSpPr>
          <p:nvPr/>
        </p:nvSpPr>
        <p:spPr bwMode="auto">
          <a:xfrm>
            <a:off x="4771128" y="775310"/>
            <a:ext cx="9137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2</a:t>
            </a:r>
            <a:endParaRPr kumimoji="0" lang="fr-F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 Box 15"/>
          <p:cNvSpPr txBox="1">
            <a:spLocks noChangeArrowheads="1"/>
          </p:cNvSpPr>
          <p:nvPr/>
        </p:nvSpPr>
        <p:spPr bwMode="auto">
          <a:xfrm>
            <a:off x="4979788" y="775310"/>
            <a:ext cx="9137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3</a:t>
            </a:r>
            <a:endParaRPr kumimoji="0" lang="fr-F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 Box 14"/>
          <p:cNvSpPr txBox="1">
            <a:spLocks noChangeArrowheads="1"/>
          </p:cNvSpPr>
          <p:nvPr/>
        </p:nvSpPr>
        <p:spPr bwMode="auto">
          <a:xfrm>
            <a:off x="5188448" y="775310"/>
            <a:ext cx="9137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4</a:t>
            </a:r>
            <a:endParaRPr kumimoji="0" lang="fr-F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 Box 13"/>
          <p:cNvSpPr txBox="1">
            <a:spLocks noChangeArrowheads="1"/>
          </p:cNvSpPr>
          <p:nvPr/>
        </p:nvSpPr>
        <p:spPr bwMode="auto">
          <a:xfrm>
            <a:off x="5397108" y="775310"/>
            <a:ext cx="9137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5</a:t>
            </a:r>
            <a:endParaRPr kumimoji="0" lang="fr-F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 Box 12"/>
          <p:cNvSpPr txBox="1">
            <a:spLocks noChangeArrowheads="1"/>
          </p:cNvSpPr>
          <p:nvPr/>
        </p:nvSpPr>
        <p:spPr bwMode="auto">
          <a:xfrm>
            <a:off x="5605768" y="775310"/>
            <a:ext cx="9137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6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5814428" y="775310"/>
            <a:ext cx="9137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7</a:t>
            </a:r>
            <a:endParaRPr kumimoji="0" lang="fr-F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6440408" y="775310"/>
            <a:ext cx="109004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A</a:t>
            </a:r>
            <a:endParaRPr kumimoji="0" lang="fr-F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6666700" y="775310"/>
            <a:ext cx="10099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B</a:t>
            </a:r>
            <a:endParaRPr kumimoji="0" lang="fr-F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6884978" y="775310"/>
            <a:ext cx="92974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C</a:t>
            </a:r>
            <a:endParaRPr kumimoji="0" lang="fr-F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7095240" y="775310"/>
            <a:ext cx="113814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D</a:t>
            </a:r>
            <a:endParaRPr kumimoji="0" lang="fr-F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7326342" y="775310"/>
            <a:ext cx="8816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E</a:t>
            </a:r>
            <a:endParaRPr kumimoji="0" lang="fr-F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7531799" y="775310"/>
            <a:ext cx="81754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F</a:t>
            </a:r>
            <a:endParaRPr kumimoji="0" lang="fr-F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 Box 32"/>
          <p:cNvSpPr txBox="1">
            <a:spLocks noChangeArrowheads="1"/>
          </p:cNvSpPr>
          <p:nvPr/>
        </p:nvSpPr>
        <p:spPr bwMode="auto">
          <a:xfrm>
            <a:off x="4340394" y="1091045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Calibri" pitchFamily="34" charset="0"/>
                <a:cs typeface="Times New Roman" pitchFamily="18" charset="0"/>
              </a:rPr>
              <a:t>0</a:t>
            </a:r>
            <a:endParaRPr kumimoji="0" lang="fr-F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Text Box 31"/>
          <p:cNvSpPr txBox="1">
            <a:spLocks noChangeArrowheads="1"/>
          </p:cNvSpPr>
          <p:nvPr/>
        </p:nvSpPr>
        <p:spPr bwMode="auto">
          <a:xfrm>
            <a:off x="4340394" y="1387693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Calibri" pitchFamily="34" charset="0"/>
                <a:cs typeface="Times New Roman" pitchFamily="18" charset="0"/>
              </a:rPr>
              <a:t>1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 Box 30"/>
          <p:cNvSpPr txBox="1">
            <a:spLocks noChangeArrowheads="1"/>
          </p:cNvSpPr>
          <p:nvPr/>
        </p:nvSpPr>
        <p:spPr bwMode="auto">
          <a:xfrm>
            <a:off x="4340394" y="1684341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Calibri" pitchFamily="34" charset="0"/>
                <a:cs typeface="Times New Roman" pitchFamily="18" charset="0"/>
              </a:rPr>
              <a:t>2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Text Box 29"/>
          <p:cNvSpPr txBox="1">
            <a:spLocks noChangeArrowheads="1"/>
          </p:cNvSpPr>
          <p:nvPr/>
        </p:nvSpPr>
        <p:spPr bwMode="auto">
          <a:xfrm>
            <a:off x="4340394" y="1980989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Calibri" pitchFamily="34" charset="0"/>
                <a:cs typeface="Times New Roman" pitchFamily="18" charset="0"/>
              </a:rPr>
              <a:t>3</a:t>
            </a:r>
            <a:endParaRPr kumimoji="0" lang="fr-F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Text Box 28"/>
          <p:cNvSpPr txBox="1">
            <a:spLocks noChangeArrowheads="1"/>
          </p:cNvSpPr>
          <p:nvPr/>
        </p:nvSpPr>
        <p:spPr bwMode="auto">
          <a:xfrm>
            <a:off x="4340394" y="2277637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Calibri" pitchFamily="34" charset="0"/>
                <a:cs typeface="Times New Roman" pitchFamily="18" charset="0"/>
              </a:rPr>
              <a:t>4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Text Box 27"/>
          <p:cNvSpPr txBox="1">
            <a:spLocks noChangeArrowheads="1"/>
          </p:cNvSpPr>
          <p:nvPr/>
        </p:nvSpPr>
        <p:spPr bwMode="auto">
          <a:xfrm>
            <a:off x="4340394" y="2574285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Calibri" pitchFamily="34" charset="0"/>
                <a:cs typeface="Times New Roman" pitchFamily="18" charset="0"/>
              </a:rPr>
              <a:t>5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 Box 26"/>
          <p:cNvSpPr txBox="1">
            <a:spLocks noChangeArrowheads="1"/>
          </p:cNvSpPr>
          <p:nvPr/>
        </p:nvSpPr>
        <p:spPr bwMode="auto">
          <a:xfrm>
            <a:off x="4340394" y="2870933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Calibri" pitchFamily="34" charset="0"/>
                <a:cs typeface="Times New Roman" pitchFamily="18" charset="0"/>
              </a:rPr>
              <a:t>6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 Box 25"/>
          <p:cNvSpPr txBox="1">
            <a:spLocks noChangeArrowheads="1"/>
          </p:cNvSpPr>
          <p:nvPr/>
        </p:nvSpPr>
        <p:spPr bwMode="auto">
          <a:xfrm>
            <a:off x="4340394" y="3167581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Calibri" pitchFamily="34" charset="0"/>
                <a:cs typeface="Times New Roman" pitchFamily="18" charset="0"/>
              </a:rPr>
              <a:t>7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Text Box 24"/>
          <p:cNvSpPr txBox="1">
            <a:spLocks noChangeArrowheads="1"/>
          </p:cNvSpPr>
          <p:nvPr/>
        </p:nvSpPr>
        <p:spPr bwMode="auto">
          <a:xfrm>
            <a:off x="4340394" y="3464229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Calibri" pitchFamily="34" charset="0"/>
                <a:cs typeface="Times New Roman" pitchFamily="18" charset="0"/>
              </a:rPr>
              <a:t>8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Text Box 23"/>
          <p:cNvSpPr txBox="1">
            <a:spLocks noChangeArrowheads="1"/>
          </p:cNvSpPr>
          <p:nvPr/>
        </p:nvSpPr>
        <p:spPr bwMode="auto">
          <a:xfrm>
            <a:off x="4340394" y="3760877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Calibri" pitchFamily="34" charset="0"/>
                <a:cs typeface="Times New Roman" pitchFamily="18" charset="0"/>
              </a:rPr>
              <a:t>9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5" name="Text Box 22"/>
          <p:cNvSpPr txBox="1">
            <a:spLocks noChangeArrowheads="1"/>
          </p:cNvSpPr>
          <p:nvPr/>
        </p:nvSpPr>
        <p:spPr bwMode="auto">
          <a:xfrm>
            <a:off x="4340394" y="4057525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Calibri" pitchFamily="34" charset="0"/>
                <a:cs typeface="Times New Roman" pitchFamily="18" charset="0"/>
              </a:rPr>
              <a:t>A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Text Box 21"/>
          <p:cNvSpPr txBox="1">
            <a:spLocks noChangeArrowheads="1"/>
          </p:cNvSpPr>
          <p:nvPr/>
        </p:nvSpPr>
        <p:spPr bwMode="auto">
          <a:xfrm>
            <a:off x="4340394" y="4354173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Calibri" pitchFamily="34" charset="0"/>
                <a:cs typeface="Times New Roman" pitchFamily="18" charset="0"/>
              </a:rPr>
              <a:t>B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7" name="Text Box 20"/>
          <p:cNvSpPr txBox="1">
            <a:spLocks noChangeArrowheads="1"/>
          </p:cNvSpPr>
          <p:nvPr/>
        </p:nvSpPr>
        <p:spPr bwMode="auto">
          <a:xfrm>
            <a:off x="4340394" y="4650821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Calibri" pitchFamily="34" charset="0"/>
                <a:cs typeface="Times New Roman" pitchFamily="18" charset="0"/>
              </a:rPr>
              <a:t>C</a:t>
            </a:r>
            <a:endParaRPr kumimoji="0" lang="fr-F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8" name="Text Box 19"/>
          <p:cNvSpPr txBox="1">
            <a:spLocks noChangeArrowheads="1"/>
          </p:cNvSpPr>
          <p:nvPr/>
        </p:nvSpPr>
        <p:spPr bwMode="auto">
          <a:xfrm>
            <a:off x="4340394" y="4947469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Calibri" pitchFamily="34" charset="0"/>
                <a:cs typeface="Times New Roman" pitchFamily="18" charset="0"/>
              </a:rPr>
              <a:t>D</a:t>
            </a:r>
            <a:endParaRPr kumimoji="0" lang="fr-F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9" name="Text Box 18"/>
          <p:cNvSpPr txBox="1">
            <a:spLocks noChangeArrowheads="1"/>
          </p:cNvSpPr>
          <p:nvPr/>
        </p:nvSpPr>
        <p:spPr bwMode="auto">
          <a:xfrm>
            <a:off x="4340394" y="5244117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Calibri" pitchFamily="34" charset="0"/>
                <a:cs typeface="Times New Roman" pitchFamily="18" charset="0"/>
              </a:rPr>
              <a:t>E</a:t>
            </a:r>
            <a:endParaRPr kumimoji="0" lang="fr-F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0" name="Text Box 17"/>
          <p:cNvSpPr txBox="1">
            <a:spLocks noChangeArrowheads="1"/>
          </p:cNvSpPr>
          <p:nvPr/>
        </p:nvSpPr>
        <p:spPr bwMode="auto">
          <a:xfrm>
            <a:off x="4340394" y="5540760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Calibri" pitchFamily="34" charset="0"/>
                <a:cs typeface="Times New Roman" pitchFamily="18" charset="0"/>
              </a:rPr>
              <a:t>F</a:t>
            </a:r>
            <a:endParaRPr kumimoji="0" lang="fr-F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Text Box 16"/>
          <p:cNvSpPr txBox="1">
            <a:spLocks noChangeArrowheads="1"/>
          </p:cNvSpPr>
          <p:nvPr/>
        </p:nvSpPr>
        <p:spPr bwMode="auto">
          <a:xfrm>
            <a:off x="4562468" y="775310"/>
            <a:ext cx="9137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1400" b="1" i="1" dirty="0" smtClean="0">
                <a:solidFill>
                  <a:srgbClr val="FF0000"/>
                </a:solidFill>
                <a:latin typeface="Calibri" pitchFamily="34" charset="0"/>
                <a:cs typeface="Times New Roman" pitchFamily="18" charset="0"/>
              </a:rPr>
              <a:t>1</a:t>
            </a:r>
            <a:endParaRPr kumimoji="0" lang="fr-F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6023088" y="775310"/>
            <a:ext cx="9137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1400" b="1" i="1" dirty="0" smtClean="0">
                <a:solidFill>
                  <a:srgbClr val="FF0000"/>
                </a:solidFill>
                <a:latin typeface="Calibri" pitchFamily="34" charset="0"/>
                <a:cs typeface="Times New Roman" pitchFamily="18" charset="0"/>
              </a:rPr>
              <a:t>8</a:t>
            </a:r>
            <a:endParaRPr kumimoji="0" lang="fr-F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6231748" y="775310"/>
            <a:ext cx="9137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1400" b="1" i="1" dirty="0" smtClean="0">
                <a:solidFill>
                  <a:srgbClr val="FF0000"/>
                </a:solidFill>
                <a:latin typeface="Calibri" pitchFamily="34" charset="0"/>
                <a:cs typeface="Times New Roman" pitchFamily="18" charset="0"/>
              </a:rPr>
              <a:t>9</a:t>
            </a:r>
            <a:endParaRPr kumimoji="0" lang="fr-F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4" name="Line 4"/>
          <p:cNvSpPr>
            <a:spLocks noChangeShapeType="1"/>
          </p:cNvSpPr>
          <p:nvPr/>
        </p:nvSpPr>
        <p:spPr bwMode="auto">
          <a:xfrm flipH="1" flipV="1">
            <a:off x="4177804" y="786967"/>
            <a:ext cx="305435" cy="23304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35" name="Text Box 3"/>
          <p:cNvSpPr txBox="1">
            <a:spLocks noChangeArrowheads="1"/>
          </p:cNvSpPr>
          <p:nvPr/>
        </p:nvSpPr>
        <p:spPr bwMode="auto">
          <a:xfrm>
            <a:off x="4088269" y="849197"/>
            <a:ext cx="233045" cy="1708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100" b="0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Low</a:t>
            </a:r>
            <a:endParaRPr kumimoji="0" lang="fr-F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6" name="Text Box 2"/>
          <p:cNvSpPr txBox="1">
            <a:spLocks noChangeArrowheads="1"/>
          </p:cNvSpPr>
          <p:nvPr/>
        </p:nvSpPr>
        <p:spPr bwMode="auto">
          <a:xfrm>
            <a:off x="4257179" y="678382"/>
            <a:ext cx="251460" cy="167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100" b="0" i="1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High</a:t>
            </a:r>
            <a:endParaRPr kumimoji="0" lang="fr-F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28575">
          <a:solidFill>
            <a:srgbClr val="00FF00"/>
          </a:solidFill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38100">
          <a:solidFill>
            <a:srgbClr val="0000FF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800</TotalTime>
  <Words>284</Words>
  <Application>Microsoft Office PowerPoint</Application>
  <PresentationFormat>Personnalisé</PresentationFormat>
  <Paragraphs>207</Paragraphs>
  <Slides>18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19" baseType="lpstr">
      <vt:lpstr>Thème Office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moi</dc:creator>
  <cp:lastModifiedBy>moi</cp:lastModifiedBy>
  <cp:revision>56</cp:revision>
  <dcterms:created xsi:type="dcterms:W3CDTF">2024-04-22T15:46:10Z</dcterms:created>
  <dcterms:modified xsi:type="dcterms:W3CDTF">2024-06-05T16:41:01Z</dcterms:modified>
</cp:coreProperties>
</file>